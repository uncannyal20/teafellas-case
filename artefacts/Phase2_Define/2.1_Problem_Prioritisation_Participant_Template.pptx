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C1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TEA FELLAS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HDB TPO Product Workshop · Phase 2 — Define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Problem Prioritisation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17A2A"/>
                </a:solidFill>
                <a:latin typeface="Calibri"/>
              </a:rPr>
              <a:t>RICE Scoring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66160"/>
            <a:ext cx="8229600" cy="1005840"/>
          </a:xfrm>
          <a:prstGeom prst="rect">
            <a:avLst/>
          </a:prstGeom>
          <a:solidFill>
            <a:srgbClr val="1E3D1A"/>
          </a:solidFill>
          <a:ln w="9525">
            <a:solidFill>
              <a:srgbClr val="C1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17A2A"/>
                </a:solidFill>
                <a:latin typeface="Calibri"/>
              </a:rPr>
              <a:t>RICE Score  =  (Reach  ×  Impact  ×  Confidence)  ÷  Effort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06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Higher score = higher priority · Reach = people affected per day · Effort = months to resolve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910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Participant Workbook — complete this sheet with your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TEA FELLAS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How to Score Each Factor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697480" cy="4754880"/>
          </a:xfrm>
          <a:prstGeom prst="rect">
            <a:avLst/>
          </a:prstGeom>
          <a:solidFill>
            <a:srgbClr val="FDFAF4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2697480" cy="50292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 — Reach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2468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416"/>
                </a:solidFill>
                <a:latin typeface="Calibri"/>
              </a:rPr>
              <a:t>How many people (customers + staff) are affected by this problem per day?
Use ~250 for problems affecting all daily customers.
Use a lower number for sub-groups
(e.g. ~100 for loyalty users, ~50 for bulk buyers).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697480" cy="4754880"/>
          </a:xfrm>
          <a:prstGeom prst="rect">
            <a:avLst/>
          </a:prstGeom>
          <a:solidFill>
            <a:srgbClr val="FDFAF4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280160"/>
            <a:ext cx="2697480" cy="502920"/>
          </a:xfrm>
          <a:prstGeom prst="rect">
            <a:avLst/>
          </a:prstGeom>
          <a:solidFill>
            <a:srgbClr val="C1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3716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 —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874519"/>
            <a:ext cx="2468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416"/>
                </a:solidFill>
                <a:latin typeface="Calibri"/>
              </a:rPr>
              <a:t>3 = Massive — prevents use entirely
2 = High — significant friction
1 = Medium — noticeable but manageable
0.5 = Low — minor inconvenience
0.25 = Minimal — barely noticeable
Score the pain point, not the solution.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280160"/>
            <a:ext cx="2697480" cy="4754880"/>
          </a:xfrm>
          <a:prstGeom prst="rect">
            <a:avLst/>
          </a:prstGeom>
          <a:solidFill>
            <a:srgbClr val="FDFAF4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280160"/>
            <a:ext cx="2697480" cy="50292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3716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 — Confidence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874519"/>
            <a:ext cx="2468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416"/>
                </a:solidFill>
                <a:latin typeface="Calibri"/>
              </a:rPr>
              <a:t>1.0 = High — you have data that backs this up
0.8 = Medium — mostly evidence, some judgement
0.5 = Low — mostly instinct or future horizon
Be honest about how much evidence you actually have.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280160"/>
            <a:ext cx="2697480" cy="4754880"/>
          </a:xfrm>
          <a:prstGeom prst="rect">
            <a:avLst/>
          </a:prstGeom>
          <a:solidFill>
            <a:srgbClr val="FDFAF4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1280160"/>
            <a:ext cx="2697480" cy="502920"/>
          </a:xfrm>
          <a:prstGeom prst="rect">
            <a:avLst/>
          </a:prstGeom>
          <a:solidFill>
            <a:srgbClr val="C1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13716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 — Effort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1874519"/>
            <a:ext cx="2468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416"/>
                </a:solidFill>
                <a:latin typeface="Calibri"/>
              </a:rPr>
              <a:t>0.5 = 2 weeks
1 = 1 month
2 = 2 months
3 = full quarter
A1 (digital ordering features) ≈ 1 month
A2 (supply chain) ≈ 3 months
Count all person-months (product + design + engineering).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Tea Fellas — Problem Prioritisation (RICE) · Phase 2 — Define · HDB TPO Product Workshop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TEA FELLAS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RICE Scoring Table — Your Team's Scores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347044" cy="475488"/>
          </a:xfrm>
          <a:prstGeom prst="rect">
            <a:avLst/>
          </a:prstGeom>
          <a:solidFill>
            <a:srgbClr val="2D5A27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" y="941832"/>
            <a:ext cx="25560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084" y="914400"/>
            <a:ext cx="4759463" cy="475488"/>
          </a:xfrm>
          <a:prstGeom prst="rect">
            <a:avLst/>
          </a:prstGeom>
          <a:solidFill>
            <a:srgbClr val="2D5A27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1948" y="941832"/>
            <a:ext cx="4668023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26548" y="914400"/>
            <a:ext cx="1041132" cy="475488"/>
          </a:xfrm>
          <a:prstGeom prst="rect">
            <a:avLst/>
          </a:prstGeom>
          <a:solidFill>
            <a:srgbClr val="2D5A27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1412" y="941832"/>
            <a:ext cx="94969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Reach
(people/day)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7680" y="914400"/>
            <a:ext cx="1170034" cy="475488"/>
          </a:xfrm>
          <a:prstGeom prst="rect">
            <a:avLst/>
          </a:prstGeom>
          <a:solidFill>
            <a:srgbClr val="2D5A27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2544" y="941832"/>
            <a:ext cx="107859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Impact
(0.25–3)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7715" y="914400"/>
            <a:ext cx="1170034" cy="475488"/>
          </a:xfrm>
          <a:prstGeom prst="rect">
            <a:avLst/>
          </a:prstGeom>
          <a:solidFill>
            <a:srgbClr val="2D5A27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2579" y="941832"/>
            <a:ext cx="107859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Confidence
(0.5/0.8/1.0)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07750" y="914400"/>
            <a:ext cx="1041132" cy="475488"/>
          </a:xfrm>
          <a:prstGeom prst="rect">
            <a:avLst/>
          </a:prstGeom>
          <a:solidFill>
            <a:srgbClr val="2D5A27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2614" y="941832"/>
            <a:ext cx="94969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Effort
(months)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48883" y="914400"/>
            <a:ext cx="1041132" cy="475488"/>
          </a:xfrm>
          <a:prstGeom prst="rect">
            <a:avLst/>
          </a:prstGeom>
          <a:solidFill>
            <a:srgbClr val="2D5A27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03747" y="941832"/>
            <a:ext cx="94969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RICE
Score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90015" y="914400"/>
            <a:ext cx="981639" cy="475488"/>
          </a:xfrm>
          <a:prstGeom prst="rect">
            <a:avLst/>
          </a:prstGeom>
          <a:solidFill>
            <a:srgbClr val="2D5A27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44879" y="941832"/>
            <a:ext cx="89019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Rank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1389888"/>
            <a:ext cx="347044" cy="643509"/>
          </a:xfrm>
          <a:prstGeom prst="rect">
            <a:avLst/>
          </a:prstGeom>
          <a:solidFill>
            <a:srgbClr val="FDFAF4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" y="1417320"/>
            <a:ext cx="255604" cy="597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B5A3E"/>
                </a:solidFill>
                <a:latin typeface="Calibri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084" y="1389888"/>
            <a:ext cx="4759463" cy="643509"/>
          </a:xfrm>
          <a:prstGeom prst="rect">
            <a:avLst/>
          </a:prstGeom>
          <a:solidFill>
            <a:srgbClr val="FDFAF4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1948" y="1417320"/>
            <a:ext cx="4668023" cy="597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416"/>
                </a:solidFill>
                <a:latin typeface="Calibri"/>
              </a:rPr>
              <a:t>Handwritten chits cause order errors downstream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26548" y="1389888"/>
            <a:ext cx="1041132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67680" y="1389888"/>
            <a:ext cx="1170034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37715" y="1389888"/>
            <a:ext cx="1170034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07750" y="1389888"/>
            <a:ext cx="1041132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48883" y="1389888"/>
            <a:ext cx="1041132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890015" y="1389888"/>
            <a:ext cx="981639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2033397"/>
            <a:ext cx="347044" cy="643509"/>
          </a:xfrm>
          <a:prstGeom prst="rect">
            <a:avLst/>
          </a:prstGeom>
          <a:solidFill>
            <a:srgbClr val="F5F0E8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4" y="2060828"/>
            <a:ext cx="255604" cy="597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B5A3E"/>
                </a:solidFill>
                <a:latin typeface="Calibri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084" y="2033397"/>
            <a:ext cx="4759463" cy="643509"/>
          </a:xfrm>
          <a:prstGeom prst="rect">
            <a:avLst/>
          </a:prstGeom>
          <a:solidFill>
            <a:srgbClr val="F5F0E8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1948" y="2060828"/>
            <a:ext cx="4668023" cy="597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416"/>
                </a:solidFill>
                <a:latin typeface="Calibri"/>
              </a:rPr>
              <a:t>No pre-ordering creates 15–30 min peak queues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26548" y="2033397"/>
            <a:ext cx="1041132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67680" y="2033397"/>
            <a:ext cx="1170034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37715" y="2033397"/>
            <a:ext cx="1170034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07750" y="2033397"/>
            <a:ext cx="1041132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48883" y="2033397"/>
            <a:ext cx="1041132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890015" y="2033397"/>
            <a:ext cx="981639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2676906"/>
            <a:ext cx="347044" cy="643509"/>
          </a:xfrm>
          <a:prstGeom prst="rect">
            <a:avLst/>
          </a:prstGeom>
          <a:solidFill>
            <a:srgbClr val="FDFAF4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4904" y="2704338"/>
            <a:ext cx="255604" cy="597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B5A3E"/>
                </a:solidFill>
                <a:latin typeface="Calibri"/>
              </a:rP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7084" y="2676906"/>
            <a:ext cx="4759463" cy="643509"/>
          </a:xfrm>
          <a:prstGeom prst="rect">
            <a:avLst/>
          </a:prstGeom>
          <a:solidFill>
            <a:srgbClr val="FDFAF4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1948" y="2704338"/>
            <a:ext cx="4668023" cy="597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416"/>
                </a:solidFill>
                <a:latin typeface="Calibri"/>
              </a:rPr>
              <a:t>Memory-based collection leads to wrong drinks given out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26548" y="2676906"/>
            <a:ext cx="1041132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67680" y="2676906"/>
            <a:ext cx="1170034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637715" y="2676906"/>
            <a:ext cx="1170034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807750" y="2676906"/>
            <a:ext cx="1041132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848883" y="2676906"/>
            <a:ext cx="1041132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890015" y="2676906"/>
            <a:ext cx="981639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20040" y="3320415"/>
            <a:ext cx="347044" cy="643509"/>
          </a:xfrm>
          <a:prstGeom prst="rect">
            <a:avLst/>
          </a:prstGeom>
          <a:solidFill>
            <a:srgbClr val="F5F0E8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4904" y="3347847"/>
            <a:ext cx="255604" cy="597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B5A3E"/>
                </a:solidFill>
                <a:latin typeface="Calibri"/>
              </a:rPr>
              <a:t>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7084" y="3320415"/>
            <a:ext cx="4759463" cy="643509"/>
          </a:xfrm>
          <a:prstGeom prst="rect">
            <a:avLst/>
          </a:prstGeom>
          <a:solidFill>
            <a:srgbClr val="F5F0E8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1948" y="3347847"/>
            <a:ext cx="4668023" cy="597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416"/>
                </a:solidFill>
                <a:latin typeface="Calibri"/>
              </a:rPr>
              <a:t>No customer notification — customers hover or miss collection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26548" y="3320415"/>
            <a:ext cx="1041132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67680" y="3320415"/>
            <a:ext cx="1170034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637715" y="3320415"/>
            <a:ext cx="1170034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807750" y="3320415"/>
            <a:ext cx="1041132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48883" y="3320415"/>
            <a:ext cx="1041132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890015" y="3320415"/>
            <a:ext cx="981639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20040" y="3963924"/>
            <a:ext cx="347044" cy="643509"/>
          </a:xfrm>
          <a:prstGeom prst="rect">
            <a:avLst/>
          </a:prstGeom>
          <a:solidFill>
            <a:srgbClr val="FDFAF4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4904" y="3991356"/>
            <a:ext cx="255604" cy="597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B5A3E"/>
                </a:solidFill>
                <a:latin typeface="Calibri"/>
              </a:rPr>
              <a:t>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7084" y="3963924"/>
            <a:ext cx="4759463" cy="643509"/>
          </a:xfrm>
          <a:prstGeom prst="rect">
            <a:avLst/>
          </a:prstGeom>
          <a:solidFill>
            <a:srgbClr val="FDFAF4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1948" y="3991356"/>
            <a:ext cx="4668023" cy="597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416"/>
                </a:solidFill>
                <a:latin typeface="Calibri"/>
              </a:rPr>
              <a:t>Single barista bottleneck — Darren prepares every drink alone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26548" y="3963924"/>
            <a:ext cx="1041132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67680" y="3963924"/>
            <a:ext cx="1170034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637715" y="3963924"/>
            <a:ext cx="1170034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807750" y="3963924"/>
            <a:ext cx="1041132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848883" y="3963924"/>
            <a:ext cx="1041132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890015" y="3963924"/>
            <a:ext cx="981639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20040" y="4607433"/>
            <a:ext cx="347044" cy="643509"/>
          </a:xfrm>
          <a:prstGeom prst="rect">
            <a:avLst/>
          </a:prstGeom>
          <a:solidFill>
            <a:srgbClr val="F5F0E8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74904" y="4634865"/>
            <a:ext cx="255604" cy="597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B5A3E"/>
                </a:solidFill>
                <a:latin typeface="Calibri"/>
              </a:rPr>
              <a:t>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7084" y="4607433"/>
            <a:ext cx="4759463" cy="643509"/>
          </a:xfrm>
          <a:prstGeom prst="rect">
            <a:avLst/>
          </a:prstGeom>
          <a:solidFill>
            <a:srgbClr val="F5F0E8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21948" y="4634865"/>
            <a:ext cx="4668023" cy="597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416"/>
                </a:solidFill>
                <a:latin typeface="Calibri"/>
              </a:rPr>
              <a:t>Paper loyalty stamp cards frequently lost or forgotten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26548" y="4607433"/>
            <a:ext cx="1041132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67680" y="4607433"/>
            <a:ext cx="1170034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637715" y="4607433"/>
            <a:ext cx="1170034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807750" y="4607433"/>
            <a:ext cx="1041132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848883" y="4607433"/>
            <a:ext cx="1041132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890015" y="4607433"/>
            <a:ext cx="981639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20040" y="5250942"/>
            <a:ext cx="347044" cy="643509"/>
          </a:xfrm>
          <a:prstGeom prst="rect">
            <a:avLst/>
          </a:prstGeom>
          <a:solidFill>
            <a:srgbClr val="FDFAF4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74904" y="5278374"/>
            <a:ext cx="255604" cy="597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B5A3E"/>
                </a:solidFill>
                <a:latin typeface="Calibri"/>
              </a:rPr>
              <a:t>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67084" y="5250942"/>
            <a:ext cx="4759463" cy="643509"/>
          </a:xfrm>
          <a:prstGeom prst="rect">
            <a:avLst/>
          </a:prstGeom>
          <a:solidFill>
            <a:srgbClr val="FDFAF4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21948" y="5278374"/>
            <a:ext cx="4668023" cy="597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416"/>
                </a:solidFill>
                <a:latin typeface="Calibri"/>
              </a:rPr>
              <a:t>Bulk order confusion — wrong drinks labelled or distributed to team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426548" y="5250942"/>
            <a:ext cx="1041132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467680" y="5250942"/>
            <a:ext cx="1170034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37715" y="5250942"/>
            <a:ext cx="1170034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807750" y="5250942"/>
            <a:ext cx="1041132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848883" y="5250942"/>
            <a:ext cx="1041132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890015" y="5250942"/>
            <a:ext cx="981639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20040" y="5894451"/>
            <a:ext cx="347044" cy="643509"/>
          </a:xfrm>
          <a:prstGeom prst="rect">
            <a:avLst/>
          </a:prstGeom>
          <a:solidFill>
            <a:srgbClr val="F5F0E8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74904" y="5921883"/>
            <a:ext cx="255604" cy="597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B5A3E"/>
                </a:solidFill>
                <a:latin typeface="Calibri"/>
              </a:rPr>
              <a:t>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67084" y="5894451"/>
            <a:ext cx="4759463" cy="643509"/>
          </a:xfrm>
          <a:prstGeom prst="rect">
            <a:avLst/>
          </a:prstGeom>
          <a:solidFill>
            <a:srgbClr val="F5F0E8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21948" y="5921883"/>
            <a:ext cx="4668023" cy="597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416"/>
                </a:solidFill>
                <a:latin typeface="Calibri"/>
              </a:rPr>
              <a:t>Supply chain can't scale — manual ordering won't support two outlets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426548" y="5894451"/>
            <a:ext cx="1041132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467680" y="5894451"/>
            <a:ext cx="1170034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637715" y="5894451"/>
            <a:ext cx="1170034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07750" y="5894451"/>
            <a:ext cx="1041132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848883" y="5894451"/>
            <a:ext cx="1041132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890015" y="5894451"/>
            <a:ext cx="981639" cy="643509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20040" y="6611112"/>
            <a:ext cx="11551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5A3E"/>
                </a:solidFill>
                <a:latin typeface="Calibri"/>
              </a:rPr>
              <a:t>RICE Score = (Reach × Impact × Confidence) ÷ Effort   ·   Higher score = higher priority   ·   Score the PROBLEM, not the solution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6576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Tea Fellas — Problem Prioritisation (RICE) · Phase 2 — Define · HDB TPO Product Workshop · Participant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