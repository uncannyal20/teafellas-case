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Research Findings Brief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PARTICIPANT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Phase 1 —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60196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Research Findings Brief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19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Page 1 of 3 · Participant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RESEARCH APPROACH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31520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0467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2416"/>
                </a:solidFill>
              </a:rPr>
              <a:t>Personas interviewed: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969264"/>
            <a:ext cx="502920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Aunty Mary Tan — Cashier
Uncle John DeSouza — Owner / Founder
Mrs Selva — Loyal Customer
Jacky — HDB Staff / Bulk Buyer
Darren DeSouza — Main Barista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1673352"/>
            <a:ext cx="51206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C2416"/>
                </a:solidFill>
              </a:rPr>
              <a:t>Focus areas: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1837943"/>
            <a:ext cx="50292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C2416"/>
                </a:solidFill>
              </a:rPr>
              <a:t>Pain points and workarounds
Daily frustrations and blockers
Aspirations and desired outcomes
Observations about the business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2404872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BUSINESS SNAPSHOT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9464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2642615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6B5A3E"/>
                </a:solidFill>
              </a:rPr>
              <a:t>From your interviews and case brief, fill in the key figures for Tea Fellas.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65760" y="2843784"/>
          <a:ext cx="11457432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2286000"/>
                <a:gridCol w="5056632"/>
              </a:tblGrid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Item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Figure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Notes / Source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Daily customers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Monthly revenue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/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Monthly operating costs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155448">
                <a:tc>
                  <a:txBody>
                    <a:bodyPr wrap="square"/>
                    <a:lstStyle/>
                    <a:p>
                      <a:pPr algn="l"/>
                      <a:r>
                        <a:rPr sz="800" b="0" i="0">
                          <a:solidFill>
                            <a:srgbClr val="2C2416"/>
                          </a:solidFill>
                        </a:rPr>
                        <a:t>Net monthly surplus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0" i="1">
                          <a:solidFill>
                            <a:srgbClr val="B4AA9B"/>
                          </a:solidFill>
                        </a:rPr>
                        <a:t>_______________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0" name="TextBox 19"/>
          <p:cNvSpPr txBox="1"/>
          <p:nvPr/>
        </p:nvSpPr>
        <p:spPr>
          <a:xfrm>
            <a:off x="365760" y="3758183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KEY THEMES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22775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995927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Identify up to 4 overarching themes from your interviews. Name each theme and summarise what you consistently heard.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19709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419709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38912" y="422452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1 — Name: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8912" y="443483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4AA9B"/>
                </a:solidFill>
              </a:rPr>
              <a:t>What pattern emerged across interviews?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97880" y="419709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897880" y="419709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71032" y="422452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2 — Name: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71032" y="443483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4AA9B"/>
                </a:solidFill>
              </a:rPr>
              <a:t>What pattern emerged across interviews?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" y="561441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" y="561441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8912" y="564184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3 — Name: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8912" y="585215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4AA9B"/>
                </a:solidFill>
              </a:rPr>
              <a:t>What pattern emerged across interviews?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897880" y="5614415"/>
            <a:ext cx="5394960" cy="137160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897880" y="5614415"/>
            <a:ext cx="53949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71032" y="5641847"/>
            <a:ext cx="52486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Theme 4 — Name: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971032" y="5852159"/>
            <a:ext cx="5248656" cy="107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B4AA9B"/>
                </a:solidFill>
              </a:rPr>
              <a:t>What pattern emerged across interviews?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Interview Insights by Persona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PARTICIPANT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Phase 1 —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60196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Research Findings Brief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19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Page 2 of 3 · Participant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For each persona, record the key pain point, their aspiration, and a memorable quote from your interview.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77240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777240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75488" y="850392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5488" y="850392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83210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Aunty Mary Tan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996695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Cashier · John's wife, late 50s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" y="1179576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325880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1179576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HER ASPIRATION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1325880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1179576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0" y="1325880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...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911095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65760" y="1911095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5488" y="1984248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" y="1984248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J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196596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Uncle John DeSouza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" y="2130552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Owner / Founder · Early 60s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2313432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5488" y="2459736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89120" y="2313432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HIS ASPIRATION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89120" y="2459736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313432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21040" y="2459736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...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044952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65760" y="3044952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3118104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75488" y="3118104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" y="309981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Mrs Selva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3264408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Loyal Customer · Early 50s · 3–4 visits/week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75488" y="344728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75488" y="3593592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89120" y="344728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HER ASPIRATION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89120" y="3593592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3447288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3593592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...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5760" y="4178807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65760" y="4178807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475488" y="4251959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75488" y="4251959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" y="4233671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Jacky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2960" y="4398264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HDB Senior Manager · 35 · Daily bulk buyer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75488" y="45811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75488" y="4727447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389120" y="45811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HIS ASPIRATION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389120" y="4727447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4581144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4727447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...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5312664"/>
            <a:ext cx="11457432" cy="109728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65760" y="5312664"/>
            <a:ext cx="64008" cy="109728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475488" y="5385816"/>
            <a:ext cx="292608" cy="292608"/>
          </a:xfrm>
          <a:prstGeom prst="ellipse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5488" y="5385816"/>
            <a:ext cx="29260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" y="5367527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C2416"/>
                </a:solidFill>
              </a:rPr>
              <a:t>Darren DeSouza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22960" y="5532120"/>
            <a:ext cx="822960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B5A3E"/>
                </a:solidFill>
              </a:rPr>
              <a:t>Main Barista · 25 · John's nephew · SMU grad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75488" y="5715000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TOP PAIN POINT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475488" y="5861303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5715000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HIS ASPIRATION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4389120" y="5861303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B4AA9B"/>
                </a:solidFill>
              </a:rPr>
              <a:t>___________________________
___________________________
___________________________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321040" y="5715000"/>
            <a:ext cx="356616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1" i="0">
                <a:solidFill>
                  <a:srgbClr val="2D5A27"/>
                </a:solidFill>
              </a:rPr>
              <a:t>KEY QUOTE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321040" y="5861303"/>
            <a:ext cx="3474720" cy="5029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...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" y="36576"/>
            <a:ext cx="868680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FFFF"/>
                </a:solidFill>
              </a:rPr>
              <a:t>TEA FELLAS    Pain Points &amp; Opportunity Areas</a:t>
            </a:r>
          </a:p>
        </p:txBody>
      </p:sp>
      <p:sp>
        <p:nvSpPr>
          <p:cNvPr id="4" name="Rectangle 3"/>
          <p:cNvSpPr/>
          <p:nvPr/>
        </p:nvSpPr>
        <p:spPr>
          <a:xfrm>
            <a:off x="9966960" y="54864"/>
            <a:ext cx="2103120" cy="393192"/>
          </a:xfrm>
          <a:prstGeom prst="rect">
            <a:avLst/>
          </a:prstGeom>
          <a:solidFill>
            <a:srgbClr val="C17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66960" y="5486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</a:rPr>
              <a:t>PARTICIPANT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966960" y="237744"/>
            <a:ext cx="2103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FFFF"/>
                </a:solidFill>
              </a:rPr>
              <a:t>Phase 1 — Research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" y="6601968"/>
            <a:ext cx="8686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6B5A3E"/>
                </a:solidFill>
              </a:rPr>
              <a:t>Tea Fellas — Research Findings Brief · Phase 1 — Research · HDB TPO Product Workshop · July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0" y="6601968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00" b="0" i="0">
                <a:solidFill>
                  <a:srgbClr val="6B5A3E"/>
                </a:solidFill>
              </a:rPr>
              <a:t>Page 3 of 3 · Participant Template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66928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PAIN POINT SUMMARY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731520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804672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List the pain points identified across your interviews. For each, note the affected area, severity, and how often it occurs.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5760" y="1005840"/>
          <a:ext cx="107899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"/>
                <a:gridCol w="4754880"/>
                <a:gridCol w="2926080"/>
                <a:gridCol w="1280160"/>
                <a:gridCol w="1463040"/>
              </a:tblGrid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Pain Point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Area Affected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Severity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800" b="1" i="0">
                          <a:solidFill>
                            <a:srgbClr val="FFFFFF"/>
                          </a:solidFill>
                        </a:rPr>
                        <a:t>Frequency</a:t>
                      </a:r>
                    </a:p>
                  </a:txBody>
                  <a:tcPr>
                    <a:solidFill>
                      <a:srgbClr val="2D5A27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1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3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5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6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7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8</a:t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/>
                </a:tc>
              </a:tr>
              <a:tr h="237744"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>9</a:t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750" b="0" i="0">
                          <a:solidFill>
                            <a:srgbClr val="2C2416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F5F0E8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5760" y="3520440"/>
            <a:ext cx="11430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D5A27"/>
                </a:solidFill>
              </a:rPr>
              <a:t>EMERGING OPPORTUNITY AREAS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685032"/>
            <a:ext cx="11457432" cy="16459"/>
          </a:xfrm>
          <a:prstGeom prst="rect">
            <a:avLst/>
          </a:prstGeom>
          <a:solidFill>
            <a:srgbClr val="D4C4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758184"/>
            <a:ext cx="11430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B5A3E"/>
                </a:solidFill>
              </a:rPr>
              <a:t>Based on your findings, identify 3 opportunity areas where an intervention would create the most value.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959352"/>
            <a:ext cx="3566160" cy="118872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959352"/>
            <a:ext cx="35661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8912" y="398678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Opportunity Area 1: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" y="4197096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What is the opportunity? Who benefits? What might a solution look like?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087368" y="3959352"/>
            <a:ext cx="3566160" cy="118872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087368" y="3959352"/>
            <a:ext cx="35661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60520" y="398678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Opportunity Area 2: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60520" y="4197096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What is the opportunity? Who benefits? What might a solution look like?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08976" y="3959352"/>
            <a:ext cx="3566160" cy="1188720"/>
          </a:xfrm>
          <a:prstGeom prst="rect">
            <a:avLst/>
          </a:prstGeom>
          <a:solidFill>
            <a:srgbClr val="F5F0E8"/>
          </a:solidFill>
          <a:ln w="6350">
            <a:solidFill>
              <a:srgbClr val="D4C4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08976" y="3959352"/>
            <a:ext cx="3566160" cy="201168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82128" y="3986784"/>
            <a:ext cx="3419856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Opportunity Area 3: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82128" y="4197096"/>
            <a:ext cx="3419856" cy="8961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B4AA9B"/>
                </a:solidFill>
              </a:rPr>
              <a:t>What is the opportunity? Who benefits? What might a solution look like?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5239512"/>
            <a:ext cx="11457432" cy="329184"/>
          </a:xfrm>
          <a:prstGeom prst="rect">
            <a:avLst/>
          </a:prstGeom>
          <a:solidFill>
            <a:srgbClr val="2D5A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5276088"/>
            <a:ext cx="111556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→ NEXT: PHASE 2 — DEFINE    In Phase 2 you will frame the core problem, define the product vision, and identify Business Process Re-engineering opportunities. Use these findings as your evidence base.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