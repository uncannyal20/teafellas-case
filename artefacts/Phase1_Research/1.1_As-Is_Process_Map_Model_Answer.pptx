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36576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TEA FELLAS    As-Is Process Map — Current State Order Fulfilment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966960" y="54864"/>
            <a:ext cx="2103120" cy="393192"/>
          </a:xfrm>
          <a:prstGeom prst="rect">
            <a:avLst/>
          </a:prstGeom>
          <a:solidFill>
            <a:srgbClr val="C17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54864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FACILITATOR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237744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Model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5A3E"/>
                </a:solidFill>
              </a:rPr>
              <a:t>Tea Fellas — As-Is Process Map · Phase 1 — Research · HDB TPO Product Workshop ·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6B5A3E"/>
                </a:solidFill>
              </a:rPr>
              <a:t>Facilitator Reference — Model Answer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2920"/>
            <a:ext cx="12188952" cy="201168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" y="512064"/>
            <a:ext cx="1188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C2416"/>
                </a:solidFill>
              </a:rPr>
              <a:t>Facilitator note: Use this as a model answer reference during the debrief. Red callouts = high-severity pain points. Amber = medium. Compare with participant outputs before revealing.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3660" y="704088"/>
            <a:ext cx="16459" cy="5303520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04088"/>
            <a:ext cx="12188952" cy="10607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704088"/>
            <a:ext cx="960120" cy="1060704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" y="960120"/>
            <a:ext cx="923544" cy="786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Customer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757476"/>
            <a:ext cx="12188952" cy="8229"/>
          </a:xfrm>
          <a:prstGeom prst="rect">
            <a:avLst/>
          </a:prstGeom>
          <a:solidFill>
            <a:srgbClr val="D4C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64792"/>
            <a:ext cx="12188952" cy="1060704"/>
          </a:xfrm>
          <a:prstGeom prst="rect">
            <a:avLst/>
          </a:prstGeom>
          <a:solidFill>
            <a:srgbClr val="F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764792"/>
            <a:ext cx="960120" cy="1060704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" y="2020824"/>
            <a:ext cx="923544" cy="786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Cashier
(Aunty Mary)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2818180"/>
            <a:ext cx="12188952" cy="8229"/>
          </a:xfrm>
          <a:prstGeom prst="rect">
            <a:avLst/>
          </a:prstGeom>
          <a:solidFill>
            <a:srgbClr val="D4C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825496"/>
            <a:ext cx="12188952" cy="10607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825496"/>
            <a:ext cx="960120" cy="1060704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" y="3081528"/>
            <a:ext cx="923544" cy="786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Barista A
(Salmiah)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3878884"/>
            <a:ext cx="12188952" cy="8229"/>
          </a:xfrm>
          <a:prstGeom prst="rect">
            <a:avLst/>
          </a:prstGeom>
          <a:solidFill>
            <a:srgbClr val="D4C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3886200"/>
            <a:ext cx="12188952" cy="1060704"/>
          </a:xfrm>
          <a:prstGeom prst="rect">
            <a:avLst/>
          </a:prstGeom>
          <a:solidFill>
            <a:srgbClr val="F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886200"/>
            <a:ext cx="960120" cy="1060704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" y="4142232"/>
            <a:ext cx="923544" cy="786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Kitchen
(Darren + Chew)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4939588"/>
            <a:ext cx="12188952" cy="8229"/>
          </a:xfrm>
          <a:prstGeom prst="rect">
            <a:avLst/>
          </a:prstGeom>
          <a:solidFill>
            <a:srgbClr val="D4C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4946904"/>
            <a:ext cx="12188952" cy="10607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4946904"/>
            <a:ext cx="960120" cy="1060704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" y="5202936"/>
            <a:ext cx="923544" cy="786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Collection
(Uncle John)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996695"/>
            <a:ext cx="768096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2D5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650" b="1">
                <a:solidFill>
                  <a:srgbClr val="2D5A27"/>
                </a:solidFill>
              </a:rPr>
              <a:t>1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Arrives,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joins queue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65376" y="996695"/>
            <a:ext cx="768096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2D5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650" b="1">
                <a:solidFill>
                  <a:srgbClr val="2D5A27"/>
                </a:solidFill>
              </a:rPr>
              <a:t>2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States order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verbally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65376" y="2057400"/>
            <a:ext cx="768096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2D5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650" b="1">
                <a:solidFill>
                  <a:srgbClr val="2D5A27"/>
                </a:solidFill>
              </a:rPr>
              <a:t>3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Writes chit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by hand; takes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payment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24912" y="2057400"/>
            <a:ext cx="768096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2D5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650" b="1">
                <a:solidFill>
                  <a:srgbClr val="2D5A27"/>
                </a:solidFill>
              </a:rPr>
              <a:t>4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Issues/stamps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paper loyalty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stamp card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84448" y="2057400"/>
            <a:ext cx="768096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2D5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650" b="1">
                <a:solidFill>
                  <a:srgbClr val="2D5A27"/>
                </a:solidFill>
              </a:rPr>
              <a:t>5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Passes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handwritten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chit to Salmiah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43983" y="3118103"/>
            <a:ext cx="768096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2D5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650" b="1">
                <a:solidFill>
                  <a:srgbClr val="2D5A27"/>
                </a:solidFill>
              </a:rPr>
              <a:t>6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Reads chit;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keys order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into system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03519" y="3118103"/>
            <a:ext cx="768096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2D5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650" b="1">
                <a:solidFill>
                  <a:srgbClr val="2D5A27"/>
                </a:solidFill>
              </a:rPr>
              <a:t>7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Prints sticker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label for cup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03519" y="4178808"/>
            <a:ext cx="768096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2D5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650" b="1">
                <a:solidFill>
                  <a:srgbClr val="2D5A27"/>
                </a:solidFill>
              </a:rPr>
              <a:t>8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Reads label;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prepares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drink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22592" y="4178808"/>
            <a:ext cx="768096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2D5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650" b="1">
                <a:solidFill>
                  <a:srgbClr val="2D5A27"/>
                </a:solidFill>
              </a:rPr>
              <a:t>9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Completes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drink; passes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to Chew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4178808"/>
            <a:ext cx="768096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2D5A27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650" b="1">
                <a:solidFill>
                  <a:srgbClr val="2D5A27"/>
                </a:solidFill>
              </a:rPr>
              <a:t>10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Wipes /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cleans cup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(Chew)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41663" y="4178808"/>
            <a:ext cx="768096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2D5A27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650" b="1">
                <a:solidFill>
                  <a:srgbClr val="2D5A27"/>
                </a:solidFill>
              </a:rPr>
              <a:t>11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Passes drink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to John at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collection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01199" y="5239512"/>
            <a:ext cx="768096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2D5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650" b="1">
                <a:solidFill>
                  <a:srgbClr val="2D5A27"/>
                </a:solidFill>
              </a:rPr>
              <a:t>12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Holds drink;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calls customer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name (memory)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320272" y="996695"/>
            <a:ext cx="768096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2D5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650" b="1">
                <a:solidFill>
                  <a:srgbClr val="2D5A27"/>
                </a:solidFill>
              </a:rPr>
              <a:t>13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Hears name;</a:t>
            </a:r>
          </a:p>
          <a:p>
            <a:pPr algn="l"/>
            <a:r>
              <a:rPr sz="700">
                <a:solidFill>
                  <a:srgbClr val="2C2416"/>
                </a:solidFill>
              </a:rPr>
              <a:t>collects drink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773936" y="1234439"/>
            <a:ext cx="91440" cy="0"/>
          </a:xfrm>
          <a:prstGeom prst="line">
            <a:avLst/>
          </a:prstGeom>
          <a:ln w="10160">
            <a:solidFill>
              <a:srgbClr val="2D5A27"/>
            </a:solidFill>
            <a:tailEnd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865376" y="1234439"/>
            <a:ext cx="768096" cy="1060705"/>
          </a:xfrm>
          <a:prstGeom prst="line">
            <a:avLst/>
          </a:prstGeom>
          <a:ln w="10160">
            <a:solidFill>
              <a:srgbClr val="2D5A27"/>
            </a:solidFill>
            <a:tailEnd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33472" y="2295144"/>
            <a:ext cx="91440" cy="0"/>
          </a:xfrm>
          <a:prstGeom prst="line">
            <a:avLst/>
          </a:prstGeom>
          <a:ln w="10160">
            <a:solidFill>
              <a:srgbClr val="2D5A27"/>
            </a:solidFill>
            <a:tailEnd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493008" y="2295144"/>
            <a:ext cx="91440" cy="0"/>
          </a:xfrm>
          <a:prstGeom prst="line">
            <a:avLst/>
          </a:prstGeom>
          <a:ln w="10160">
            <a:solidFill>
              <a:srgbClr val="2D5A27"/>
            </a:solidFill>
            <a:tailEnd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352544" y="2295144"/>
            <a:ext cx="91439" cy="1060704"/>
          </a:xfrm>
          <a:prstGeom prst="line">
            <a:avLst/>
          </a:prstGeom>
          <a:ln w="10160">
            <a:solidFill>
              <a:srgbClr val="2D5A27"/>
            </a:solidFill>
            <a:tailEnd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212079" y="3355848"/>
            <a:ext cx="91440" cy="0"/>
          </a:xfrm>
          <a:prstGeom prst="line">
            <a:avLst/>
          </a:prstGeom>
          <a:ln w="10160">
            <a:solidFill>
              <a:srgbClr val="2D5A27"/>
            </a:solidFill>
            <a:tailEnd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5303519" y="3355848"/>
            <a:ext cx="768096" cy="1060704"/>
          </a:xfrm>
          <a:prstGeom prst="line">
            <a:avLst/>
          </a:prstGeom>
          <a:ln w="10160">
            <a:solidFill>
              <a:srgbClr val="2D5A27"/>
            </a:solidFill>
            <a:tailEnd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071615" y="4416552"/>
            <a:ext cx="950977" cy="0"/>
          </a:xfrm>
          <a:prstGeom prst="line">
            <a:avLst/>
          </a:prstGeom>
          <a:ln w="10160">
            <a:solidFill>
              <a:srgbClr val="2D5A27"/>
            </a:solidFill>
            <a:tailEnd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790688" y="4416552"/>
            <a:ext cx="91439" cy="0"/>
          </a:xfrm>
          <a:prstGeom prst="line">
            <a:avLst/>
          </a:prstGeom>
          <a:ln w="10160">
            <a:solidFill>
              <a:srgbClr val="2D5A27"/>
            </a:solidFill>
            <a:tailEnd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650224" y="4416552"/>
            <a:ext cx="91439" cy="0"/>
          </a:xfrm>
          <a:prstGeom prst="line">
            <a:avLst/>
          </a:prstGeom>
          <a:ln w="10160">
            <a:solidFill>
              <a:srgbClr val="2D5A27"/>
            </a:solidFill>
            <a:tailEnd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509759" y="4416552"/>
            <a:ext cx="91440" cy="1060704"/>
          </a:xfrm>
          <a:prstGeom prst="line">
            <a:avLst/>
          </a:prstGeom>
          <a:ln w="10160">
            <a:solidFill>
              <a:srgbClr val="2D5A27"/>
            </a:solidFill>
            <a:tailEnd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0369295" y="1234439"/>
            <a:ext cx="950977" cy="4242817"/>
          </a:xfrm>
          <a:prstGeom prst="line">
            <a:avLst/>
          </a:prstGeom>
          <a:ln w="10160">
            <a:solidFill>
              <a:srgbClr val="2D5A27"/>
            </a:solidFill>
            <a:tailEnd/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960120" y="722376"/>
            <a:ext cx="1554480" cy="292608"/>
          </a:xfrm>
          <a:prstGeom prst="rect">
            <a:avLst/>
          </a:prstGeom>
          <a:solidFill>
            <a:srgbClr val="FEEBE9"/>
          </a:solidFill>
          <a:ln w="952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50" b="1">
                <a:solidFill>
                  <a:srgbClr val="C0392B"/>
                </a:solidFill>
              </a:rPr>
              <a:t>✖ No pre-ordering capability</a:t>
            </a:r>
          </a:p>
          <a:p>
            <a:r>
              <a:rPr sz="650" b="0">
                <a:solidFill>
                  <a:srgbClr val="C0392B"/>
                </a:solidFill>
              </a:rPr>
              <a:t>All customers must queue in person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19656" y="1783080"/>
            <a:ext cx="1554480" cy="274320"/>
          </a:xfrm>
          <a:prstGeom prst="rect">
            <a:avLst/>
          </a:prstGeom>
          <a:solidFill>
            <a:srgbClr val="FEEBE9"/>
          </a:solidFill>
          <a:ln w="952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50" b="1">
                <a:solidFill>
                  <a:srgbClr val="C0392B"/>
                </a:solidFill>
              </a:rPr>
              <a:t>✖ Handwriting unclear under pressure</a:t>
            </a:r>
          </a:p>
          <a:p>
            <a:r>
              <a:rPr sz="650" b="0">
                <a:solidFill>
                  <a:srgbClr val="C0392B"/>
                </a:solidFill>
              </a:rPr>
              <a:t>Errors propagate downstream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679192" y="2505456"/>
            <a:ext cx="1554480" cy="274320"/>
          </a:xfrm>
          <a:prstGeom prst="rect">
            <a:avLst/>
          </a:prstGeom>
          <a:solidFill>
            <a:srgbClr val="FEF3CD"/>
          </a:solidFill>
          <a:ln w="9525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50" b="1">
                <a:solidFill>
                  <a:srgbClr val="96500A"/>
                </a:solidFill>
              </a:rPr>
              <a:t>⚠ Paper stamp cards lost or forgotten</a:t>
            </a:r>
          </a:p>
          <a:p>
            <a:r>
              <a:rPr sz="650" b="0">
                <a:solidFill>
                  <a:srgbClr val="96500A"/>
                </a:solidFill>
              </a:rPr>
              <a:t>No digital record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98264" y="2843784"/>
            <a:ext cx="1554480" cy="274320"/>
          </a:xfrm>
          <a:prstGeom prst="rect">
            <a:avLst/>
          </a:prstGeom>
          <a:solidFill>
            <a:srgbClr val="FEEBE9"/>
          </a:solidFill>
          <a:ln w="952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50" b="1">
                <a:solidFill>
                  <a:srgbClr val="C0392B"/>
                </a:solidFill>
              </a:rPr>
              <a:t>✖ Salmiah misreads unclear handwriting</a:t>
            </a:r>
          </a:p>
          <a:p>
            <a:r>
              <a:rPr sz="650" b="0">
                <a:solidFill>
                  <a:srgbClr val="C0392B"/>
                </a:solidFill>
              </a:rPr>
              <a:t>Occasional incorrect order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57799" y="3904487"/>
            <a:ext cx="1691640" cy="274320"/>
          </a:xfrm>
          <a:prstGeom prst="rect">
            <a:avLst/>
          </a:prstGeom>
          <a:solidFill>
            <a:srgbClr val="FEEBE9"/>
          </a:solidFill>
          <a:ln w="952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50" b="1">
                <a:solidFill>
                  <a:srgbClr val="C0392B"/>
                </a:solidFill>
              </a:rPr>
              <a:t>✖ Darren must stop mid-prep to clarify chits</a:t>
            </a:r>
          </a:p>
          <a:p>
            <a:r>
              <a:rPr sz="650" b="0">
                <a:solidFill>
                  <a:srgbClr val="C0392B"/>
                </a:solidFill>
              </a:rPr>
              <a:t>Brief but costly interruption every peak hour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76872" y="4626864"/>
            <a:ext cx="1554480" cy="274320"/>
          </a:xfrm>
          <a:prstGeom prst="rect">
            <a:avLst/>
          </a:prstGeom>
          <a:solidFill>
            <a:srgbClr val="FEF3CD"/>
          </a:solidFill>
          <a:ln w="9525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50" b="1">
                <a:solidFill>
                  <a:srgbClr val="96500A"/>
                </a:solidFill>
              </a:rPr>
              <a:t>⚠ Single barista bottleneck</a:t>
            </a:r>
          </a:p>
          <a:p>
            <a:r>
              <a:rPr sz="650" b="0">
                <a:solidFill>
                  <a:srgbClr val="96500A"/>
                </a:solidFill>
              </a:rPr>
              <a:t>All drink prep relies on Darren alone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555479" y="4965192"/>
            <a:ext cx="1554480" cy="274320"/>
          </a:xfrm>
          <a:prstGeom prst="rect">
            <a:avLst/>
          </a:prstGeom>
          <a:solidFill>
            <a:srgbClr val="FEF3CD"/>
          </a:solidFill>
          <a:ln w="9525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50" b="1">
                <a:solidFill>
                  <a:srgbClr val="96500A"/>
                </a:solidFill>
              </a:rPr>
              <a:t>⚠ No notification system</a:t>
            </a:r>
          </a:p>
          <a:p>
            <a:r>
              <a:rPr sz="650" b="0">
                <a:solidFill>
                  <a:srgbClr val="96500A"/>
                </a:solidFill>
              </a:rPr>
              <a:t>Customers hover or wander off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55479" y="5367528"/>
            <a:ext cx="1554480" cy="274320"/>
          </a:xfrm>
          <a:prstGeom prst="rect">
            <a:avLst/>
          </a:prstGeom>
          <a:solidFill>
            <a:srgbClr val="FEEBE9"/>
          </a:solidFill>
          <a:ln w="952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50" b="1">
                <a:solidFill>
                  <a:srgbClr val="C0392B"/>
                </a:solidFill>
              </a:rPr>
              <a:t>✖ Memory-based collection</a:t>
            </a:r>
          </a:p>
          <a:p>
            <a:r>
              <a:rPr sz="650" b="0">
                <a:solidFill>
                  <a:srgbClr val="C0392B"/>
                </a:solidFill>
              </a:rPr>
              <a:t>Wrong drinks handed to wrong customers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552176" y="5367528"/>
            <a:ext cx="1508760" cy="274320"/>
          </a:xfrm>
          <a:prstGeom prst="rect">
            <a:avLst/>
          </a:prstGeom>
          <a:solidFill>
            <a:srgbClr val="FEF3CD"/>
          </a:solidFill>
          <a:ln w="9525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50" b="1">
                <a:solidFill>
                  <a:srgbClr val="96500A"/>
                </a:solidFill>
              </a:rPr>
              <a:t>⚠ Shouting names in noisy shop</a:t>
            </a:r>
          </a:p>
          <a:p>
            <a:r>
              <a:rPr sz="650" b="0">
                <a:solidFill>
                  <a:srgbClr val="96500A"/>
                </a:solidFill>
              </a:rPr>
              <a:t>Ineffective; missed collections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274551" y="722376"/>
            <a:ext cx="1463040" cy="274320"/>
          </a:xfrm>
          <a:prstGeom prst="rect">
            <a:avLst/>
          </a:prstGeom>
          <a:solidFill>
            <a:srgbClr val="FEF3CD"/>
          </a:solidFill>
          <a:ln w="9525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50" b="1">
                <a:solidFill>
                  <a:srgbClr val="96500A"/>
                </a:solidFill>
              </a:rPr>
              <a:t>⚠ No feedback mechanism</a:t>
            </a:r>
          </a:p>
          <a:p>
            <a:r>
              <a:rPr sz="650" b="0">
                <a:solidFill>
                  <a:srgbClr val="96500A"/>
                </a:solidFill>
              </a:rPr>
              <a:t>John only hears from dissatisfied customers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035040"/>
            <a:ext cx="12188952" cy="347472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37160" y="608076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2C2416"/>
                </a:solidFill>
              </a:rPr>
              <a:t>LEGEND:   [Step] = process step    [- - -] = sub-step (Chew's role)    ✖ High severity = high-impact pain point    ⚠ Medium = medium-impact pain point    ——→ = process flow    10 pain points identified | Darren's verdict: "Fix operations first"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