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36576"/>
            <a:ext cx="8686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TEA FELLAS    Research Findings Brief</a:t>
            </a:r>
          </a:p>
        </p:txBody>
      </p:sp>
      <p:sp>
        <p:nvSpPr>
          <p:cNvPr id="4" name="Rectangle 3"/>
          <p:cNvSpPr/>
          <p:nvPr/>
        </p:nvSpPr>
        <p:spPr>
          <a:xfrm>
            <a:off x="9966960" y="54864"/>
            <a:ext cx="2103120" cy="393192"/>
          </a:xfrm>
          <a:prstGeom prst="rect">
            <a:avLst/>
          </a:prstGeom>
          <a:solidFill>
            <a:srgbClr val="C1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5486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FACILITATOR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23774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Model Answer — Phase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" y="6601968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5A3E"/>
                </a:solidFill>
              </a:rPr>
              <a:t>Tea Fellas — Research Findings Brief · Phase 1 — Research · HDB TPO Product Workshop ·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0196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B5A3E"/>
                </a:solidFill>
              </a:rPr>
              <a:t>Page 1 of 3 · Facilitator Reference — Model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66928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5A27"/>
                </a:solidFill>
              </a:rPr>
              <a:t>RESEARCH APPROACH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731520"/>
            <a:ext cx="11457432" cy="16459"/>
          </a:xfrm>
          <a:prstGeom prst="rect">
            <a:avLst/>
          </a:prstGeom>
          <a:solidFill>
            <a:srgbClr val="D4C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804672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C2416"/>
                </a:solidFill>
              </a:rPr>
              <a:t>Personas interviewed: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969264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416"/>
                </a:solidFill>
              </a:rPr>
              <a:t>Aunty Mary Tan — Cashier
Uncle John DeSouza — Owner / Founder
Mrs Selva — Loyal Customer
Jacky — HDB Staff / Bulk Buyer
Darren DeSouza — Main Barista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673352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C2416"/>
                </a:solidFill>
              </a:rPr>
              <a:t>Focus areas: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837943"/>
            <a:ext cx="5029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416"/>
                </a:solidFill>
              </a:rPr>
              <a:t>Pain points and workarounds
Daily frustrations and blockers
Aspirations and desired outcomes
Observations about the business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804672"/>
            <a:ext cx="5943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C2416"/>
                </a:solidFill>
              </a:rPr>
              <a:t>Method: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969264"/>
            <a:ext cx="5760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416"/>
                </a:solidFill>
              </a:rPr>
              <a:t>Semi-structured conversation
AI-simulated personas (case brief)
Focus: pain points, workarounds, aspirations
~15 minutes per persona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404872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5A27"/>
                </a:solidFill>
              </a:rPr>
              <a:t>BUSINESS SNAPSHOT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569464"/>
            <a:ext cx="11457432" cy="16459"/>
          </a:xfrm>
          <a:prstGeom prst="rect">
            <a:avLst/>
          </a:prstGeom>
          <a:solidFill>
            <a:srgbClr val="D4C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642615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A3E"/>
                </a:solidFill>
              </a:rPr>
              <a:t>From your interviews and case brief, fill in the key figures for Tea Fellas.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65760" y="2843784"/>
          <a:ext cx="11457432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5056632"/>
              </a:tblGrid>
              <a:tr h="15544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2D5A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</a:rPr>
                        <a:t>Figure</a:t>
                      </a:r>
                    </a:p>
                  </a:txBody>
                  <a:tcPr>
                    <a:solidFill>
                      <a:srgbClr val="2D5A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</a:rPr>
                        <a:t>Notes / Source</a:t>
                      </a:r>
                    </a:p>
                  </a:txBody>
                  <a:tcPr>
                    <a:solidFill>
                      <a:srgbClr val="2D5A27"/>
                    </a:solidFill>
                  </a:tcPr>
                </a:tc>
              </a:tr>
              <a:tr h="15544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C2416"/>
                          </a:solidFill>
                        </a:rPr>
                        <a:t>Daily customers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C2416"/>
                          </a:solidFill>
                        </a:rPr>
                        <a:t>~250 / day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C2416"/>
                          </a:solidFill>
                        </a:rPr>
                        <a:t>Mon–Fri; peak morning + lunch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15544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C2416"/>
                          </a:solidFill>
                        </a:rPr>
                        <a:t>Monthly revenue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C2416"/>
                          </a:solidFill>
                        </a:rPr>
                        <a:t>~$27,500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C2416"/>
                          </a:solidFill>
                        </a:rPr>
                        <a:t>~250 orders × avg $4.40 × 25 days</a:t>
                      </a:r>
                    </a:p>
                  </a:txBody>
                  <a:tcPr/>
                </a:tc>
              </a:tr>
              <a:tr h="15544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C2416"/>
                          </a:solidFill>
                        </a:rPr>
                        <a:t>Monthly operating costs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C2416"/>
                          </a:solidFill>
                        </a:rPr>
                        <a:t>~$22,100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C2416"/>
                          </a:solidFill>
                        </a:rPr>
                        <a:t>Wages, ingredients, rental, utilities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15544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C2416"/>
                          </a:solidFill>
                        </a:rPr>
                        <a:t>Net monthly surplus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C2416"/>
                          </a:solidFill>
                        </a:rPr>
                        <a:t>~$4,100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C2416"/>
                          </a:solidFill>
                        </a:rPr>
                        <a:t>~15% margin; thinning with rising costs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65760" y="3758183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5A27"/>
                </a:solidFill>
              </a:rPr>
              <a:t>KEY THEMES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22775"/>
            <a:ext cx="11457432" cy="16459"/>
          </a:xfrm>
          <a:prstGeom prst="rect">
            <a:avLst/>
          </a:prstGeom>
          <a:solidFill>
            <a:srgbClr val="D4C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995927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5A3E"/>
                </a:solidFill>
              </a:rPr>
              <a:t>Identify up to 4 overarching themes from your interviews. Name each theme and summarise what you consistently heard.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97095"/>
            <a:ext cx="5394960" cy="1371600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197095"/>
            <a:ext cx="5394960" cy="201168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4224527"/>
            <a:ext cx="52486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Theme 1 — Ordering &amp; Queue Friction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4434839"/>
            <a:ext cx="524865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416"/>
                </a:solidFill>
              </a:rPr>
              <a:t>All customer personas experience significant queue friction — 15–30 minutes during peak hours — with no pre-ordering option available. Even arriving early (like Jacky at 7:15am) does not eliminate waiting.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4197095"/>
            <a:ext cx="5394960" cy="1371600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97880" y="4197095"/>
            <a:ext cx="5394960" cy="201168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71032" y="4224527"/>
            <a:ext cx="52486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Theme 2 — Order Accuracy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71032" y="4434839"/>
            <a:ext cx="524865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416"/>
                </a:solidFill>
              </a:rPr>
              <a:t>From handwritten chit to kitchen to collection, the paper-based flow introduces errors at every handoff. Mary's handwriting, Salmiah's manual re-keying, and John's memory all contribute to errors.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614415"/>
            <a:ext cx="5394960" cy="1371600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5614415"/>
            <a:ext cx="5394960" cy="201168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5641847"/>
            <a:ext cx="52486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Theme 3 — Loyalty &amp; Retention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5852159"/>
            <a:ext cx="524865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416"/>
                </a:solidFill>
              </a:rPr>
              <a:t>Mrs Selva's loyalty is at genuine risk from lost stamp cards and queue frustration. Regular customers already use digital loyalty apps (Kopitiam) and expect the same from Tea Fellas.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97880" y="5614415"/>
            <a:ext cx="5394960" cy="1371600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7880" y="5614415"/>
            <a:ext cx="5394960" cy="201168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71032" y="5641847"/>
            <a:ext cx="52486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Theme 4 — Operational Scalability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71032" y="5852159"/>
            <a:ext cx="524865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416"/>
                </a:solidFill>
              </a:rPr>
              <a:t>The current manual process is strained at a single location. Both Darren and John see a second outlet as the business dream, but consensus is clear: fix operations before expanding, or risk chaos at scale.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36576"/>
            <a:ext cx="8686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TEA FELLAS    Interview Insights by Persona</a:t>
            </a:r>
          </a:p>
        </p:txBody>
      </p:sp>
      <p:sp>
        <p:nvSpPr>
          <p:cNvPr id="4" name="Rectangle 3"/>
          <p:cNvSpPr/>
          <p:nvPr/>
        </p:nvSpPr>
        <p:spPr>
          <a:xfrm>
            <a:off x="9966960" y="54864"/>
            <a:ext cx="2103120" cy="393192"/>
          </a:xfrm>
          <a:prstGeom prst="rect">
            <a:avLst/>
          </a:prstGeom>
          <a:solidFill>
            <a:srgbClr val="C1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5486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FACILITATOR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23774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Model Answer — Phase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" y="6601968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5A3E"/>
                </a:solidFill>
              </a:rPr>
              <a:t>Tea Fellas — Research Findings Brief · Phase 1 — Research · HDB TPO Product Workshop ·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0196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B5A3E"/>
                </a:solidFill>
              </a:rPr>
              <a:t>Page 2 of 3 · Facilitator Reference — Model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66928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5A3E"/>
                </a:solidFill>
              </a:rPr>
              <a:t>For each persona, record the key pain point, their aspiration, and a memorable quote from your interview.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777240"/>
            <a:ext cx="11457432" cy="1097280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777240"/>
            <a:ext cx="64008" cy="109728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" y="850392"/>
            <a:ext cx="292608" cy="292608"/>
          </a:xfrm>
          <a:prstGeom prst="ellipse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85039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8321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2416"/>
                </a:solidFill>
              </a:rPr>
              <a:t>Aunty Mary Tan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996695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5A3E"/>
                </a:solidFill>
              </a:rPr>
              <a:t>Cashier · John's wife, late 50s · Handles payments and all handwritten order chits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1179576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TOP PAIN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1325880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2416"/>
                </a:solidFill>
              </a:rPr>
              <a:t>Under peak-hour pressure, her handwritten chits become unclear — causing order errors downstream for Darren and customers. She has no practical solution without a digital tool.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1179576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HER ASPIRATION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1325880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2416"/>
                </a:solidFill>
              </a:rPr>
              <a:t>A tablet or digital input system she can learn to use. Wants relief from managing lost loyalty card complaints, which are a daily annoyance she handles manually.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179576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KEY QUOTE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325880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2C2416"/>
                </a:solidFill>
              </a:rPr>
              <a:t>"If got tablet, I can try. As long as someone shows me."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1911095"/>
            <a:ext cx="11457432" cy="1097280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1911095"/>
            <a:ext cx="64008" cy="109728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5488" y="1984248"/>
            <a:ext cx="292608" cy="292608"/>
          </a:xfrm>
          <a:prstGeom prst="ellipse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19842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J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19659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2416"/>
                </a:solidFill>
              </a:rPr>
              <a:t>Uncle John DeSouza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2130552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5A3E"/>
                </a:solidFill>
              </a:rPr>
              <a:t>Owner / Founder · Early 60s · Manages collection counter entirely from 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2313432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TOP PAIN 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2459736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2416"/>
                </a:solidFill>
              </a:rPr>
              <a:t>Drink mix-ups at collection — wrong drinks handed to wrong customers — and the inability to notify waiting customers. He shouts names across a noisy shop and still sometimes gets it wrong.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2313432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HIS ASPIRATION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2459736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2416"/>
                </a:solidFill>
              </a:rPr>
              <a:t>A proper ticket and notification system for the existing shop, and eventually a second outlet for Darren to manage independently so John can step back from day-to-day operations.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313432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KEY QUOTE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459736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2C2416"/>
                </a:solidFill>
              </a:rPr>
              <a:t>"I know everyone's face, but when the drinks pile up, sometimes I make mistakes. The young people today, they want things faster."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044952"/>
            <a:ext cx="11457432" cy="1097280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3044952"/>
            <a:ext cx="64008" cy="109728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5488" y="3118104"/>
            <a:ext cx="292608" cy="292608"/>
          </a:xfrm>
          <a:prstGeom prst="ellipse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311810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309981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2416"/>
                </a:solidFill>
              </a:rPr>
              <a:t>Mrs Selva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3264408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5A3E"/>
                </a:solidFill>
              </a:rPr>
              <a:t>Loyal Customer · Early 50s · 3–4 visits/week, long-time regular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" y="3447288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TOP PAIN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" y="3593592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2416"/>
                </a:solidFill>
              </a:rPr>
              <a:t>Has been late to work due to peak-hour queues. Has missed free drinks from lost stamp cards. Feels the queue is too long for a single drink, especially vs digital alternatives nearby.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3447288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HER ASPIRATION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3593592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2416"/>
                </a:solidFill>
              </a:rPr>
              <a:t>A mobile app or QR ordering flow like the Kopitiam app — order ahead, earn loyalty rewards digitally, and know when her drink is ready without hovering at the counter.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3447288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KEY QUOTE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3593592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2C2416"/>
                </a:solidFill>
              </a:rPr>
              <a:t>"I use Kopitiam app already, so easy. Why not Tea Fellas?"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178807"/>
            <a:ext cx="11457432" cy="1097280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4178807"/>
            <a:ext cx="64008" cy="109728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75488" y="4251959"/>
            <a:ext cx="292608" cy="292608"/>
          </a:xfrm>
          <a:prstGeom prst="ellipse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" y="4251959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4233671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2416"/>
                </a:solidFill>
              </a:rPr>
              <a:t>Jacky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4398264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5A3E"/>
                </a:solidFill>
              </a:rPr>
              <a:t>HDB Senior Manager · 35 · Orders 5–6 drinks for his team daily, arrives 7:15am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" y="4581144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TOP PAIN POINT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" y="4727447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2416"/>
                </a:solidFill>
              </a:rPr>
              <a:t>Arrives at 7:15am to beat the queue and still waits 15 minutes. Ordering 5–6 drinks verbally is error-prone, and collecting without clear per-person labels means he regularly hands the wrong drink to teammates.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4581144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HIS ASPIRATION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0" y="4727447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2416"/>
                </a:solidFill>
              </a:rPr>
              <a:t>A web ordering link or QR code — pre-order and pay for his team's drinks from his phone, with each drink labelled by team member name for easy distribution.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4581144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KEY QUOTE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4727447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2C2416"/>
                </a:solidFill>
              </a:rPr>
              <a:t>"If I could just send a link to the team, everyone orders their own. No mistakes, no waiting. Just pick up and go."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5312664"/>
            <a:ext cx="11457432" cy="1097280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5760" y="5312664"/>
            <a:ext cx="64008" cy="109728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75488" y="5385816"/>
            <a:ext cx="292608" cy="292608"/>
          </a:xfrm>
          <a:prstGeom prst="ellipse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5488" y="538581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" y="5367527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2416"/>
                </a:solidFill>
              </a:rPr>
              <a:t>Darren DeSouza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" y="5532120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5A3E"/>
                </a:solidFill>
              </a:rPr>
              <a:t>Main Barista · 25 · SMU Business grad, John's nephew, makes every single drink alone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5488" y="5715000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TOP PAIN POINT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5488" y="5861303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2416"/>
                </a:solidFill>
              </a:rPr>
              <a:t>Unclear chits force him to stop mid-drink-preparation to clarify with Mary — a brief but disruptive interruption during peak hours. He cannot build a reliable rhythm without consistent order information.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89120" y="5715000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HIS ASPIRATION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89120" y="5861303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2416"/>
                </a:solidFill>
              </a:rPr>
              <a:t>Digital operations (kitchen display, clear orders) first, then a second outlet to manage independently. He has already researched solutions and drafted a proposal for Uncle John.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5715000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KEY QUOTE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5861303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2C2416"/>
                </a:solidFill>
              </a:rPr>
              <a:t>"Fix the operations first. A second outlet with the current process would just be chaos times two."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36576"/>
            <a:ext cx="8686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TEA FELLAS    Pain Points &amp; Opportunity Areas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9966960" y="54864"/>
            <a:ext cx="2103120" cy="393192"/>
          </a:xfrm>
          <a:prstGeom prst="rect">
            <a:avLst/>
          </a:prstGeom>
          <a:solidFill>
            <a:srgbClr val="C1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5486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FACILITATOR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23774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Model Answer — Phase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" y="6601968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5A3E"/>
                </a:solidFill>
              </a:rPr>
              <a:t>Tea Fellas — Research Findings Brief · Phase 1 — Research · HDB TPO Product Workshop ·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0196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B5A3E"/>
                </a:solidFill>
              </a:rPr>
              <a:t>Page 3 of 3 · Facilitator Reference — Model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66928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5A27"/>
                </a:solidFill>
              </a:rPr>
              <a:t>PAIN POINT SUMMARY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731520"/>
            <a:ext cx="11457432" cy="16459"/>
          </a:xfrm>
          <a:prstGeom prst="rect">
            <a:avLst/>
          </a:prstGeom>
          <a:solidFill>
            <a:srgbClr val="D4C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804672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5A3E"/>
                </a:solidFill>
              </a:rPr>
              <a:t>List the pain points identified across your interviews. For each, note the affected area, severity, and how often it occurs.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1005840"/>
          <a:ext cx="107899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4754880"/>
                <a:gridCol w="2926080"/>
                <a:gridCol w="1280160"/>
                <a:gridCol w="146304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2D5A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</a:rPr>
                        <a:t>Pain Point</a:t>
                      </a:r>
                    </a:p>
                  </a:txBody>
                  <a:tcPr>
                    <a:solidFill>
                      <a:srgbClr val="2D5A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</a:rPr>
                        <a:t>Area Affected</a:t>
                      </a:r>
                    </a:p>
                  </a:txBody>
                  <a:tcPr>
                    <a:solidFill>
                      <a:srgbClr val="2D5A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</a:rPr>
                        <a:t>Severity</a:t>
                      </a:r>
                    </a:p>
                  </a:txBody>
                  <a:tcPr>
                    <a:solidFill>
                      <a:srgbClr val="2D5A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</a:rPr>
                        <a:t>Frequency</a:t>
                      </a:r>
                    </a:p>
                  </a:txBody>
                  <a:tcPr>
                    <a:solidFill>
                      <a:srgbClr val="2D5A2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Handwritten chits cause order errors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Mary, Darren, Customers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C0392B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Daily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Long queue — no pre-ordering option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Mrs Selva, Jacky, Customers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C0392B"/>
                          </a:solidFill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Every peak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Memory-based collection → wrong drinks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John, Customers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C0392B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Daily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No customer notification system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John, Customers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E67E22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Every peak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Paper loyalty stamp cards — lost/forgotten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Mary, Mrs Selva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E67E22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Regular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Bulk order confusion and mislabelling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Jacky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E67E22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Daily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Single barista bottleneck (Darren alone)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Darren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C0392B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Every peak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No feedback mechanism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John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E67E22"/>
                          </a:solidFill>
                        </a:rPr>
                        <a:t>MEDIUM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Ongoing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Supply chain won't scale to second outlet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John, Darren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C0392B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Structural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65760" y="352044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5A27"/>
                </a:solidFill>
              </a:rPr>
              <a:t>EMERGING OPPORTUNITY AREAS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85032"/>
            <a:ext cx="11457432" cy="16459"/>
          </a:xfrm>
          <a:prstGeom prst="rect">
            <a:avLst/>
          </a:prstGeom>
          <a:solidFill>
            <a:srgbClr val="D4C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758184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5A3E"/>
                </a:solidFill>
              </a:rPr>
              <a:t>Based on your findings, identify 3 opportunity areas where an intervention would create the most value.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59352"/>
            <a:ext cx="3566160" cy="1188720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959352"/>
            <a:ext cx="3566160" cy="201168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3986784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1. Digitise the Order Journey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4197096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2416"/>
                </a:solidFill>
              </a:rPr>
              <a:t>From cashier to barista to collection, the order flow is entirely paper-based and dependent on human memory. Introducing a digital ordering layer — QR code, kitchen display, and ticket-based collection — would remove the three biggest sources of errors across the chain in a single intervention.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87368" y="3959352"/>
            <a:ext cx="3566160" cy="1188720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87368" y="3959352"/>
            <a:ext cx="3566160" cy="201168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3986784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2. Delight Customers with Speed and Recognition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4197096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2416"/>
                </a:solidFill>
              </a:rPr>
              <a:t>Pre-ordering, digital loyalty, and collection notifications are all within reach of affordable off-the-shelf solutions. These directly address the frustrations of Tea Fellas' most loyal customers (Mrs Selva) and highest-value buyers (Jacky) — customers who are already using digital alternatives and comparing.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08976" y="3959352"/>
            <a:ext cx="3566160" cy="1188720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08976" y="3959352"/>
            <a:ext cx="3566160" cy="201168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82128" y="3986784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3. Prepare for Sustainable Growth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8" y="4197096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2416"/>
                </a:solidFill>
              </a:rPr>
              <a:t>Darren and John both see a second outlet as the business dream. But the current manual processes cannot scale — a second outlet would simply duplicate the chaos. Fixing operations digitally now is the prerequisite for responsible expansion later.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239512"/>
            <a:ext cx="11457432" cy="329184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27608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→ NEXT: PHASE 2 — DEFINE    In Phase 2 you will frame the core problem, define the product vision, and identify Business Process Re-engineering opportunities. Use these findings as your evidence base.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