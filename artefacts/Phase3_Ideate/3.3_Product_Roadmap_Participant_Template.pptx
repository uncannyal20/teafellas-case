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475488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1859768" cy="29480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Tea Fellas — 18-Month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40375"/>
            <a:ext cx="11859768" cy="19970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8D8B0"/>
                </a:solidFill>
                <a:latin typeface="Calibri"/>
              </a:rPr>
              <a:t>Scenario: _______   |   Recommended by: 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713231"/>
            <a:ext cx="1920240" cy="475488"/>
          </a:xfrm>
          <a:prstGeom prst="rect">
            <a:avLst/>
          </a:prstGeom>
          <a:solidFill>
            <a:srgbClr val="22441E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713231"/>
            <a:ext cx="19202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WORKSTREAM / MILESTONE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4832" y="713231"/>
            <a:ext cx="3313176" cy="256032"/>
          </a:xfrm>
          <a:prstGeom prst="rect">
            <a:avLst/>
          </a:prstGeom>
          <a:solidFill>
            <a:srgbClr val="2D5A27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4832" y="713231"/>
            <a:ext cx="3313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Phase 1 — Digital Foundation (M1–M6)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4832" y="969264"/>
            <a:ext cx="552196" cy="219456"/>
          </a:xfrm>
          <a:prstGeom prst="rect">
            <a:avLst/>
          </a:prstGeom>
          <a:solidFill>
            <a:srgbClr val="AACC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7028" y="969264"/>
            <a:ext cx="552196" cy="219456"/>
          </a:xfrm>
          <a:prstGeom prst="rect">
            <a:avLst/>
          </a:prstGeom>
          <a:solidFill>
            <a:srgbClr val="AACC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7028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9224" y="969264"/>
            <a:ext cx="552196" cy="219456"/>
          </a:xfrm>
          <a:prstGeom prst="rect">
            <a:avLst/>
          </a:prstGeom>
          <a:solidFill>
            <a:srgbClr val="AACC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9224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1420" y="969264"/>
            <a:ext cx="552196" cy="219456"/>
          </a:xfrm>
          <a:prstGeom prst="rect">
            <a:avLst/>
          </a:prstGeom>
          <a:solidFill>
            <a:srgbClr val="AACC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1420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3616" y="969264"/>
            <a:ext cx="552196" cy="219456"/>
          </a:xfrm>
          <a:prstGeom prst="rect">
            <a:avLst/>
          </a:prstGeom>
          <a:solidFill>
            <a:srgbClr val="AACC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3616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5812" y="969264"/>
            <a:ext cx="552196" cy="219456"/>
          </a:xfrm>
          <a:prstGeom prst="rect">
            <a:avLst/>
          </a:prstGeom>
          <a:solidFill>
            <a:srgbClr val="AACC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5812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8008" y="713231"/>
            <a:ext cx="3313176" cy="256032"/>
          </a:xfrm>
          <a:prstGeom prst="rect">
            <a:avLst/>
          </a:prstGeom>
          <a:solidFill>
            <a:srgbClr val="C17A2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8008" y="713231"/>
            <a:ext cx="3313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Phase 2 — Expansion Prep (M7–M12)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8008" y="969264"/>
            <a:ext cx="552196" cy="219456"/>
          </a:xfrm>
          <a:prstGeom prst="rect">
            <a:avLst/>
          </a:prstGeom>
          <a:solidFill>
            <a:srgbClr val="F5DEB3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8008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0204" y="969264"/>
            <a:ext cx="552196" cy="219456"/>
          </a:xfrm>
          <a:prstGeom prst="rect">
            <a:avLst/>
          </a:prstGeom>
          <a:solidFill>
            <a:srgbClr val="F5DEB3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0204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2400" y="969264"/>
            <a:ext cx="552196" cy="219456"/>
          </a:xfrm>
          <a:prstGeom prst="rect">
            <a:avLst/>
          </a:prstGeom>
          <a:solidFill>
            <a:srgbClr val="F5DEB3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2400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4596" y="969264"/>
            <a:ext cx="552196" cy="219456"/>
          </a:xfrm>
          <a:prstGeom prst="rect">
            <a:avLst/>
          </a:prstGeom>
          <a:solidFill>
            <a:srgbClr val="F5DEB3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4596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6792" y="969264"/>
            <a:ext cx="552196" cy="219456"/>
          </a:xfrm>
          <a:prstGeom prst="rect">
            <a:avLst/>
          </a:prstGeom>
          <a:solidFill>
            <a:srgbClr val="F5DEB3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6792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8988" y="969264"/>
            <a:ext cx="552196" cy="219456"/>
          </a:xfrm>
          <a:prstGeom prst="rect">
            <a:avLst/>
          </a:prstGeom>
          <a:solidFill>
            <a:srgbClr val="F5DEB3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8988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1184" y="713231"/>
            <a:ext cx="3313176" cy="256032"/>
          </a:xfrm>
          <a:prstGeom prst="rect">
            <a:avLst/>
          </a:prstGeom>
          <a:solidFill>
            <a:srgbClr val="4A7BAA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11184" y="713231"/>
            <a:ext cx="3313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Phase 3 — Launch &amp; Scale (M13–M18)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11184" y="969264"/>
            <a:ext cx="552196" cy="219456"/>
          </a:xfrm>
          <a:prstGeom prst="rect">
            <a:avLst/>
          </a:prstGeom>
          <a:solidFill>
            <a:srgbClr val="B8D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11184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63380" y="969264"/>
            <a:ext cx="552196" cy="219456"/>
          </a:xfrm>
          <a:prstGeom prst="rect">
            <a:avLst/>
          </a:prstGeom>
          <a:solidFill>
            <a:srgbClr val="B8D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3380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15576" y="969264"/>
            <a:ext cx="552196" cy="219456"/>
          </a:xfrm>
          <a:prstGeom prst="rect">
            <a:avLst/>
          </a:prstGeom>
          <a:solidFill>
            <a:srgbClr val="B8D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15576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7772" y="969264"/>
            <a:ext cx="552196" cy="219456"/>
          </a:xfrm>
          <a:prstGeom prst="rect">
            <a:avLst/>
          </a:prstGeom>
          <a:solidFill>
            <a:srgbClr val="B8D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67772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19968" y="969264"/>
            <a:ext cx="552196" cy="219456"/>
          </a:xfrm>
          <a:prstGeom prst="rect">
            <a:avLst/>
          </a:prstGeom>
          <a:solidFill>
            <a:srgbClr val="B8D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9968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72164" y="969264"/>
            <a:ext cx="552196" cy="219456"/>
          </a:xfrm>
          <a:prstGeom prst="rect">
            <a:avLst/>
          </a:prstGeom>
          <a:solidFill>
            <a:srgbClr val="B8D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72164" y="969264"/>
            <a:ext cx="55219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C2416"/>
                </a:solidFill>
                <a:latin typeface="Calibri"/>
              </a:rPr>
              <a:t>M18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1188720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84832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7028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89224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41420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3616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5812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98008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50204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02400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54596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06792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58988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11184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63380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15576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67772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919968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472164" y="1188720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592" y="1609344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84832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37028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89224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41420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3616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45812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398008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50204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2400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54596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606792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58988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11184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63380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815576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367772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919968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472164" y="1609344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4592" y="2029968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084832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37028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89224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741420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93616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845812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398008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950204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502400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054596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06792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158988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11184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263380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815576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67772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919968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472164" y="2029968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4592" y="2450592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084832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37028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189224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41420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293616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845812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398008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950204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02400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54596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606792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158988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711184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63380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815576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67772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919968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472164" y="2450592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64592" y="2871216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084832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37028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189224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741420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93616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845812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398008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950204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02400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054596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606792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158988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11184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263380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815576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67772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919968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472164" y="2871216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4592" y="3291840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084832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637028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189224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741420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293616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845812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398008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50204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502400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054596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606792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58988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711184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263380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815576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367772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919968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472164" y="3291840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64592" y="3712464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084832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637028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189224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741420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293616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845812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398008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5950204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502400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054596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06792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158988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711184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263380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815576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367772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919968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472164" y="3712464"/>
            <a:ext cx="55219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64592" y="4133088"/>
            <a:ext cx="19202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084832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637028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189224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741420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293616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845812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398008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950204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502400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054596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606792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158988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711184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263380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815576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367772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919968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1472164" y="4133088"/>
            <a:ext cx="552196" cy="420624"/>
          </a:xfrm>
          <a:prstGeom prst="rect">
            <a:avLst/>
          </a:prstGeom>
          <a:solidFill>
            <a:srgbClr val="F5F0E8"/>
          </a:solidFill>
          <a:ln w="3175">
            <a:solidFill>
              <a:srgbClr val="D4C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64592" y="4608576"/>
            <a:ext cx="1185976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B5A3E"/>
                </a:solidFill>
                <a:latin typeface="Calibri"/>
              </a:rPr>
              <a:t>Shade cells to indicate delivery windows. Use colour to distinguish: Green = complete   Amber = in progress   Red = at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