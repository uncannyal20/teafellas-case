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TEA FELLAS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FFCC"/>
                </a:solidFill>
                <a:latin typeface="Calibri"/>
              </a:rPr>
              <a:t>HDB TPO Product Workshop · Phase 3 — Ideate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5695" y="137160"/>
            <a:ext cx="2011680" cy="502920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51415" y="1645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FACILITATOR REFERENCE
Model Answer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To-Be Process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240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C17A2A"/>
                </a:solidFill>
                <a:latin typeface="Calibri"/>
              </a:rPr>
              <a:t>Digital Order Fulfilment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175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Scenario C1 — Basic Digital Solution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66160"/>
            <a:ext cx="8686800" cy="2011680"/>
          </a:xfrm>
          <a:prstGeom prst="rect">
            <a:avLst/>
          </a:prstGeom>
          <a:solidFill>
            <a:srgbClr val="254822"/>
          </a:solidFill>
          <a:ln w="12700">
            <a:solidFill>
              <a:srgbClr val="C1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657600"/>
            <a:ext cx="8412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What changes after the digital solution:
  • Customer self-orders via QR / app — no more queue at Aunty Mary's counter
  • Salmiah's manual re-keying step ELIMINATED — order flows digitally to kitchen
  • Darren sees full order on kitchen display — no paper chits, no interruptions
  • Automatic SMS/push notification when drink is ready — no hovering
  • Uncle John hands out by ticket number — no memory, no wrong drinks
  • Loyalty points tracked automatically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819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Facilitator Reference — complete with your team during debrief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64008"/>
            <a:ext cx="27432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TEA FELLAS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65176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To-Be Process Map — FACILITATOR REFERENCE (Model Answer)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493776"/>
            <a:ext cx="100584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CFFCC"/>
                </a:solidFill>
                <a:latin typeface="Calibri"/>
              </a:rPr>
              <a:t>Scenario C1 · Basic Digital Solution · After transformation · Salmiah's re-keying eliminated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62895" y="45720"/>
            <a:ext cx="1719072" cy="530352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99471" y="73152"/>
            <a:ext cx="166420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FACILITATOR
REFERENCE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" y="621792"/>
            <a:ext cx="12017959" cy="1261872"/>
          </a:xfrm>
          <a:prstGeom prst="rect">
            <a:avLst/>
          </a:prstGeom>
          <a:solidFill>
            <a:srgbClr val="FDFAF4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" y="621792"/>
            <a:ext cx="1243584" cy="1261872"/>
          </a:xfrm>
          <a:prstGeom prst="rect">
            <a:avLst/>
          </a:prstGeom>
          <a:solidFill>
            <a:srgbClr val="F0F7EE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" y="667512"/>
            <a:ext cx="1152144" cy="118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C2416"/>
                </a:solidFill>
                <a:latin typeface="Calibri"/>
              </a:rPr>
              <a:t>Customer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" y="1883664"/>
            <a:ext cx="12017959" cy="804672"/>
          </a:xfrm>
          <a:prstGeom prst="rect">
            <a:avLst/>
          </a:prstGeom>
          <a:solidFill>
            <a:srgbClr val="F5F0E8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" y="1883664"/>
            <a:ext cx="1243584" cy="804672"/>
          </a:xfrm>
          <a:prstGeom prst="rect">
            <a:avLst/>
          </a:prstGeom>
          <a:solidFill>
            <a:srgbClr val="EDE7DF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" y="1929384"/>
            <a:ext cx="1152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B5A3E"/>
                </a:solidFill>
                <a:latin typeface="Calibri"/>
              </a:rPr>
              <a:t>Cashier
(Aunty Mary)
Fallback only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" y="2688336"/>
            <a:ext cx="12017959" cy="804672"/>
          </a:xfrm>
          <a:prstGeom prst="rect">
            <a:avLst/>
          </a:prstGeom>
          <a:solidFill>
            <a:srgbClr val="D6EAF8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" y="2688336"/>
            <a:ext cx="1243584" cy="804672"/>
          </a:xfrm>
          <a:prstGeom prst="rect">
            <a:avLst/>
          </a:prstGeom>
          <a:solidFill>
            <a:srgbClr val="BBD5ED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" y="2734056"/>
            <a:ext cx="11521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D47A1"/>
                </a:solidFill>
                <a:latin typeface="Calibri"/>
              </a:rPr>
              <a:t>System
/ Digital
★ NEW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" y="3493008"/>
            <a:ext cx="12017959" cy="1389888"/>
          </a:xfrm>
          <a:prstGeom prst="rect">
            <a:avLst/>
          </a:prstGeom>
          <a:solidFill>
            <a:srgbClr val="FDFAF4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" y="3493008"/>
            <a:ext cx="1243584" cy="1389888"/>
          </a:xfrm>
          <a:prstGeom prst="rect">
            <a:avLst/>
          </a:prstGeom>
          <a:solidFill>
            <a:srgbClr val="F0F7EE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" y="3538727"/>
            <a:ext cx="115214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C2416"/>
                </a:solidFill>
                <a:latin typeface="Calibri"/>
              </a:rPr>
              <a:t>Kitchen
(Darren)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" y="4882896"/>
            <a:ext cx="12017959" cy="1170432"/>
          </a:xfrm>
          <a:prstGeom prst="rect">
            <a:avLst/>
          </a:prstGeom>
          <a:solidFill>
            <a:srgbClr val="F5F0E8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" y="4882896"/>
            <a:ext cx="1243584" cy="1170432"/>
          </a:xfrm>
          <a:prstGeom prst="rect">
            <a:avLst/>
          </a:prstGeom>
          <a:solidFill>
            <a:srgbClr val="EDE7DF"/>
          </a:solidFill>
          <a:ln w="6350">
            <a:solidFill>
              <a:srgbClr val="B0A0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" y="4928616"/>
            <a:ext cx="11521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6B5A3E"/>
                </a:solidFill>
                <a:latin typeface="Calibri"/>
              </a:rPr>
              <a:t>Collection
(Uncle John)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307592" y="2697479"/>
            <a:ext cx="10774375" cy="201168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62456" y="2697479"/>
            <a:ext cx="1068293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E7D32"/>
                </a:solidFill>
                <a:latin typeface="Calibri"/>
              </a:rPr>
              <a:t>✓  Salmiah's manual re-keying step ELIMINATED — order flows directly from customer → digital system → kitchen (no paper, no re-entry)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17548" y="987552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17548" y="987552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26692" y="987552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4980" y="1124712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C2416"/>
                </a:solidFill>
                <a:latin typeface="Calibri"/>
              </a:rPr>
              <a:t>Arrives; scans
QR or uses
in-app ordering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14701" y="987552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14701" y="987552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23845" y="987552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2133" y="1124712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C2416"/>
                </a:solidFill>
                <a:latin typeface="Calibri"/>
              </a:rPr>
              <a:t>Selects items,
customises,
pays digitally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11854" y="2825496"/>
            <a:ext cx="777240" cy="530352"/>
          </a:xfrm>
          <a:prstGeom prst="rect">
            <a:avLst/>
          </a:prstGeom>
          <a:solidFill>
            <a:srgbClr val="D6EAF8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911854" y="2825496"/>
            <a:ext cx="182880" cy="146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0998" y="282549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39286" y="2962656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0D47A1"/>
                </a:solidFill>
                <a:latin typeface="Calibri"/>
              </a:rPr>
              <a:t>Order confirmed;
ref. number
AUTO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11854" y="2020824"/>
            <a:ext cx="777240" cy="530352"/>
          </a:xfrm>
          <a:prstGeom prst="rect">
            <a:avLst/>
          </a:prstGeom>
          <a:solidFill>
            <a:srgbClr val="FFF8E1"/>
          </a:solidFill>
          <a:ln w="9525">
            <a:solidFill>
              <a:srgbClr val="7E5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911854" y="2020824"/>
            <a:ext cx="182880" cy="146304"/>
          </a:xfrm>
          <a:prstGeom prst="rect">
            <a:avLst/>
          </a:prstGeom>
          <a:solidFill>
            <a:srgbClr val="7E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920998" y="2020824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39286" y="2157984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7E5700"/>
                </a:solidFill>
                <a:latin typeface="Calibri"/>
              </a:rPr>
              <a:t>[FALLBACK]
Walk-in via tablet
if counter preferred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09006" y="2825496"/>
            <a:ext cx="777240" cy="530352"/>
          </a:xfrm>
          <a:prstGeom prst="rect">
            <a:avLst/>
          </a:prstGeom>
          <a:solidFill>
            <a:srgbClr val="D6EAF8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09006" y="2825496"/>
            <a:ext cx="182880" cy="146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18150" y="282549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36438" y="2962656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0D47A1"/>
                </a:solidFill>
                <a:latin typeface="Calibri"/>
              </a:rPr>
              <a:t>Order auto-routed
to kitchen display
AUTO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06159" y="3922776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306159" y="3922776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15303" y="392277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33591" y="4059936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C2416"/>
                </a:solidFill>
                <a:latin typeface="Calibri"/>
              </a:rPr>
              <a:t>Sees full order
on display —
no paper chit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03312" y="3922776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503312" y="3922776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512456" y="392277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30744" y="4059936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C2416"/>
                </a:solidFill>
                <a:latin typeface="Calibri"/>
              </a:rPr>
              <a:t>Prepares drink;
marks "Ready"
on display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00465" y="2825496"/>
            <a:ext cx="777240" cy="530352"/>
          </a:xfrm>
          <a:prstGeom prst="rect">
            <a:avLst/>
          </a:prstGeom>
          <a:solidFill>
            <a:srgbClr val="D6EAF8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700465" y="2825496"/>
            <a:ext cx="182880" cy="146304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709609" y="282549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27897" y="2962656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0D47A1"/>
                </a:solidFill>
                <a:latin typeface="Calibri"/>
              </a:rPr>
              <a:t>Customer notified:
"Your drink is ready"
SMS/push · AUTO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97617" y="5202936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897617" y="5202936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06761" y="5202936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925049" y="5340096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C2416"/>
                </a:solidFill>
                <a:latin typeface="Calibri"/>
              </a:rPr>
              <a:t>Hands drink by
ticket number —
no memory needed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094770" y="987552"/>
            <a:ext cx="7772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1094770" y="987552"/>
            <a:ext cx="182880" cy="146304"/>
          </a:xfrm>
          <a:prstGeom prst="rect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103914" y="987552"/>
            <a:ext cx="164592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1122202" y="1124712"/>
            <a:ext cx="731519" cy="3749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2C2416"/>
                </a:solidFill>
                <a:latin typeface="Calibri"/>
              </a:rPr>
              <a:t>Collects drink;
loyalty points
auto-credited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367449" y="640080"/>
            <a:ext cx="1920240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404025" y="658368"/>
            <a:ext cx="1856232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2E7D32"/>
                </a:solidFill>
                <a:latin typeface="Calibri"/>
              </a:rPr>
              <a:t>✓ Self-orders via QR - queue at Mary's counter reduced 60-70%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761755" y="2103120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798331" y="2121408"/>
            <a:ext cx="185623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2E7D32"/>
                </a:solidFill>
                <a:latin typeface="Calibri"/>
              </a:rPr>
              <a:t>✓ Mary's workload significantly reduced
Tablet input faster than handwriting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761755" y="2916936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98331" y="2935224"/>
            <a:ext cx="185623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2E7D32"/>
                </a:solidFill>
                <a:latin typeface="Calibri"/>
              </a:rPr>
              <a:t>✓ Salmiah's re-keying ELIMINATED
Order goes digital source to kitchen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156060" y="3712463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192636" y="3730751"/>
            <a:ext cx="185623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2E7D32"/>
                </a:solidFill>
                <a:latin typeface="Calibri"/>
              </a:rPr>
              <a:t>✓ Zero chit interruptions for Darren
Full order on display - no paper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50366" y="2916936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86942" y="2935224"/>
            <a:ext cx="185623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2E7D32"/>
                </a:solidFill>
                <a:latin typeface="Calibri"/>
              </a:rPr>
              <a:t>✓ Customer notified automatically
No shouting, no hovering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747519" y="5102352"/>
            <a:ext cx="1920240" cy="438912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784095" y="5120640"/>
            <a:ext cx="1856232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2E7D32"/>
                </a:solidFill>
                <a:latin typeface="Calibri"/>
              </a:rPr>
              <a:t>✓ Ticket-based collection replaces memory
No wrong drinks, no shouting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944672" y="640080"/>
            <a:ext cx="1045855" cy="320040"/>
          </a:xfrm>
          <a:prstGeom prst="rect">
            <a:avLst/>
          </a:prstGeom>
          <a:solidFill>
            <a:srgbClr val="E8F5E9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981248" y="658368"/>
            <a:ext cx="981847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20" b="0" i="0">
                <a:solidFill>
                  <a:srgbClr val="2E7D32"/>
                </a:solidFill>
                <a:latin typeface="Calibri"/>
              </a:rPr>
              <a:t>✓ Loyalty autotracked digitally</a:t>
            </a:r>
          </a:p>
        </p:txBody>
      </p:sp>
      <p:cxnSp>
        <p:nvCxnSpPr>
          <p:cNvPr id="79" name="Connector 78"/>
          <p:cNvCxnSpPr/>
          <p:nvPr/>
        </p:nvCxnSpPr>
        <p:spPr>
          <a:xfrm>
            <a:off x="2294788" y="1252728"/>
            <a:ext cx="419913" cy="0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689094" y="3090672"/>
            <a:ext cx="419912" cy="0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083399" y="4187952"/>
            <a:ext cx="419913" cy="0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491941" y="1252728"/>
            <a:ext cx="808533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300474" y="1252728"/>
            <a:ext cx="0" cy="157276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3331921" y="1517904"/>
            <a:ext cx="0" cy="502920"/>
          </a:xfrm>
          <a:prstGeom prst="line">
            <a:avLst/>
          </a:prstGeom>
          <a:ln w="12700">
            <a:solidFill>
              <a:srgbClr val="7E570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00474" y="2551176"/>
            <a:ext cx="0" cy="274320"/>
          </a:xfrm>
          <a:prstGeom prst="line">
            <a:avLst/>
          </a:prstGeom>
          <a:ln w="12700">
            <a:solidFill>
              <a:srgbClr val="7E5700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497626" y="3355848"/>
            <a:ext cx="1197153" cy="56692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891932" y="3355848"/>
            <a:ext cx="1197153" cy="56692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9089085" y="3355848"/>
            <a:ext cx="1197153" cy="184708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10674857" y="5468112"/>
            <a:ext cx="808533" cy="0"/>
          </a:xfrm>
          <a:prstGeom prst="line">
            <a:avLst/>
          </a:prstGeom>
          <a:ln w="12700">
            <a:solidFill>
              <a:srgbClr val="787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1483390" y="1517904"/>
            <a:ext cx="0" cy="3950208"/>
          </a:xfrm>
          <a:prstGeom prst="line">
            <a:avLst/>
          </a:prstGeom>
          <a:ln w="12700">
            <a:solidFill>
              <a:srgbClr val="78787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Rectangle 90"/>
          <p:cNvSpPr/>
          <p:nvPr/>
        </p:nvSpPr>
        <p:spPr>
          <a:xfrm>
            <a:off x="1307592" y="6099048"/>
            <a:ext cx="4572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801368" y="611733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  <a:latin typeface="Calibri"/>
              </a:rPr>
              <a:t>Process step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44952" y="6099048"/>
            <a:ext cx="457200" cy="182880"/>
          </a:xfrm>
          <a:prstGeom prst="rect">
            <a:avLst/>
          </a:prstGeom>
          <a:solidFill>
            <a:srgbClr val="D6EAF8"/>
          </a:solidFill>
          <a:ln w="952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538728" y="611733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  <a:latin typeface="Calibri"/>
              </a:rPr>
              <a:t>AUTO / System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782312" y="6099048"/>
            <a:ext cx="457200" cy="182880"/>
          </a:xfrm>
          <a:prstGeom prst="rect">
            <a:avLst/>
          </a:prstGeom>
          <a:solidFill>
            <a:srgbClr val="FFF8E1"/>
          </a:solidFill>
          <a:ln w="9525">
            <a:solidFill>
              <a:srgbClr val="7E57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276088" y="611733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  <a:latin typeface="Calibri"/>
              </a:rPr>
              <a:t>Fallback (optional)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19672" y="6099048"/>
            <a:ext cx="457200" cy="182880"/>
          </a:xfrm>
          <a:prstGeom prst="rect">
            <a:avLst/>
          </a:prstGeom>
          <a:solidFill>
            <a:srgbClr val="E8F5E9"/>
          </a:solidFill>
          <a:ln w="9525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013448" y="6117336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  <a:latin typeface="Calibri"/>
              </a:rPr>
              <a:t>✓ Improvement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4320" y="656539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Tea Fellas — To-Be Process Map · Phase 3 — Ideate · HDB TPO Product Workshop · July 2026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48495" y="65653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  <a:latin typeface="Calibri"/>
              </a:rPr>
              <a:t>Facilitator Reference — Model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