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C1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TEA FELLAS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FFCC"/>
                </a:solidFill>
                <a:latin typeface="Calibri"/>
              </a:rPr>
              <a:t>HDB TPO Product Workshop · Phase 3 — Ideate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To-Be Process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17A2A"/>
                </a:solidFill>
                <a:latin typeface="Calibri"/>
              </a:rPr>
              <a:t>Digital Order Fulfilment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Scenario C1 — Basic Digital Solution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66160"/>
            <a:ext cx="8686800" cy="2011680"/>
          </a:xfrm>
          <a:prstGeom prst="rect">
            <a:avLst/>
          </a:prstGeom>
          <a:solidFill>
            <a:srgbClr val="254822"/>
          </a:solidFill>
          <a:ln w="12700">
            <a:solidFill>
              <a:srgbClr val="C1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65760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What changes after the digital solution:
  • Customer self-orders via QR / app — no more queue at Aunty Mary's counter
  • Salmiah's manual re-keying step ELIMINATED — order flows digitally to kitchen
  • Darren sees full order on kitchen display — no paper chits, no interruptions
  • Automatic SMS/push notification when drink is ready — no hovering
  • Uncle John hands out by ticket number — no memory, no wrong drinks
  • Loyalty points tracked automatically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819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Participant Workbook — map what changes for each lane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TEA FELLAS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6517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To-Be Process Map — Participant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FFCC"/>
                </a:solidFill>
                <a:latin typeface="Calibri"/>
              </a:rPr>
              <a:t>Scenario C1 · Basic Digital Solution · After transformation · Showing what changes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" y="621792"/>
            <a:ext cx="12017959" cy="1261872"/>
          </a:xfrm>
          <a:prstGeom prst="rect">
            <a:avLst/>
          </a:prstGeom>
          <a:solidFill>
            <a:srgbClr val="FDFAF4"/>
          </a:solidFill>
          <a:ln w="6350">
            <a:solidFill>
              <a:srgbClr val="B0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" y="621792"/>
            <a:ext cx="1243584" cy="1261872"/>
          </a:xfrm>
          <a:prstGeom prst="rect">
            <a:avLst/>
          </a:prstGeom>
          <a:solidFill>
            <a:srgbClr val="F0F7EE"/>
          </a:solidFill>
          <a:ln w="6350">
            <a:solidFill>
              <a:srgbClr val="B0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" y="667512"/>
            <a:ext cx="115214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C2416"/>
                </a:solidFill>
                <a:latin typeface="Calibri"/>
              </a:rPr>
              <a:t>Customer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" y="1883664"/>
            <a:ext cx="12017959" cy="804672"/>
          </a:xfrm>
          <a:prstGeom prst="rect">
            <a:avLst/>
          </a:prstGeom>
          <a:solidFill>
            <a:srgbClr val="F5F0E8"/>
          </a:solidFill>
          <a:ln w="6350">
            <a:solidFill>
              <a:srgbClr val="B0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" y="1883664"/>
            <a:ext cx="1243584" cy="804672"/>
          </a:xfrm>
          <a:prstGeom prst="rect">
            <a:avLst/>
          </a:prstGeom>
          <a:solidFill>
            <a:srgbClr val="EDE7DF"/>
          </a:solidFill>
          <a:ln w="6350">
            <a:solidFill>
              <a:srgbClr val="B0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" y="1929384"/>
            <a:ext cx="11521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B5A3E"/>
                </a:solidFill>
                <a:latin typeface="Calibri"/>
              </a:rPr>
              <a:t>Cashier
(Aunty Mary)
Fallback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" y="2688336"/>
            <a:ext cx="12017959" cy="804672"/>
          </a:xfrm>
          <a:prstGeom prst="rect">
            <a:avLst/>
          </a:prstGeom>
          <a:solidFill>
            <a:srgbClr val="D6EAF8"/>
          </a:solidFill>
          <a:ln w="6350">
            <a:solidFill>
              <a:srgbClr val="B0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" y="2688336"/>
            <a:ext cx="1243584" cy="804672"/>
          </a:xfrm>
          <a:prstGeom prst="rect">
            <a:avLst/>
          </a:prstGeom>
          <a:solidFill>
            <a:srgbClr val="BBD5ED"/>
          </a:solidFill>
          <a:ln w="6350">
            <a:solidFill>
              <a:srgbClr val="B0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" y="2734056"/>
            <a:ext cx="11521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D47A1"/>
                </a:solidFill>
                <a:latin typeface="Calibri"/>
              </a:rPr>
              <a:t>System
/ Digital
★ NEW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" y="3493008"/>
            <a:ext cx="12017959" cy="1389888"/>
          </a:xfrm>
          <a:prstGeom prst="rect">
            <a:avLst/>
          </a:prstGeom>
          <a:solidFill>
            <a:srgbClr val="FDFAF4"/>
          </a:solidFill>
          <a:ln w="6350">
            <a:solidFill>
              <a:srgbClr val="B0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" y="3493008"/>
            <a:ext cx="1243584" cy="1389888"/>
          </a:xfrm>
          <a:prstGeom prst="rect">
            <a:avLst/>
          </a:prstGeom>
          <a:solidFill>
            <a:srgbClr val="F0F7EE"/>
          </a:solidFill>
          <a:ln w="6350">
            <a:solidFill>
              <a:srgbClr val="B0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" y="3538727"/>
            <a:ext cx="115214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C2416"/>
                </a:solidFill>
                <a:latin typeface="Calibri"/>
              </a:rPr>
              <a:t>Kitchen
(Darren)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" y="4882896"/>
            <a:ext cx="12017959" cy="1170432"/>
          </a:xfrm>
          <a:prstGeom prst="rect">
            <a:avLst/>
          </a:prstGeom>
          <a:solidFill>
            <a:srgbClr val="F5F0E8"/>
          </a:solidFill>
          <a:ln w="6350">
            <a:solidFill>
              <a:srgbClr val="B0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" y="4882896"/>
            <a:ext cx="1243584" cy="1170432"/>
          </a:xfrm>
          <a:prstGeom prst="rect">
            <a:avLst/>
          </a:prstGeom>
          <a:solidFill>
            <a:srgbClr val="EDE7DF"/>
          </a:solidFill>
          <a:ln w="6350">
            <a:solidFill>
              <a:srgbClr val="B0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" y="4928616"/>
            <a:ext cx="115214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B5A3E"/>
                </a:solidFill>
                <a:latin typeface="Calibri"/>
              </a:rPr>
              <a:t>Collection
(Uncle John)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07592" y="2697479"/>
            <a:ext cx="10774375" cy="201168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62456" y="2697479"/>
            <a:ext cx="106829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E7D32"/>
                </a:solidFill>
                <a:latin typeface="Calibri"/>
              </a:rPr>
              <a:t>✓  Salmiah's manual re-keying step ELIMINATED — order flows directly from customer → digital system → kitchen (no paper, no re-entry)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17548" y="987552"/>
            <a:ext cx="777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17548" y="987552"/>
            <a:ext cx="182880" cy="146304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26692" y="987552"/>
            <a:ext cx="16459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14701" y="987552"/>
            <a:ext cx="777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14701" y="987552"/>
            <a:ext cx="182880" cy="146304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23845" y="987552"/>
            <a:ext cx="16459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11854" y="2825496"/>
            <a:ext cx="777240" cy="530352"/>
          </a:xfrm>
          <a:prstGeom prst="rect">
            <a:avLst/>
          </a:prstGeom>
          <a:solidFill>
            <a:srgbClr val="D6EAF8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11854" y="2825496"/>
            <a:ext cx="182880" cy="14630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0998" y="2825496"/>
            <a:ext cx="16459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3022" y="2834639"/>
            <a:ext cx="320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0D47A1"/>
                </a:solidFill>
                <a:latin typeface="Calibri"/>
              </a:rPr>
              <a:t>AUTO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11854" y="2020824"/>
            <a:ext cx="777240" cy="530352"/>
          </a:xfrm>
          <a:prstGeom prst="rect">
            <a:avLst/>
          </a:prstGeom>
          <a:solidFill>
            <a:srgbClr val="FFF8E1"/>
          </a:solidFill>
          <a:ln w="9525">
            <a:solidFill>
              <a:srgbClr val="7E5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11854" y="2020824"/>
            <a:ext cx="182880" cy="146304"/>
          </a:xfrm>
          <a:prstGeom prst="rect">
            <a:avLst/>
          </a:prstGeom>
          <a:solidFill>
            <a:srgbClr val="7E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0998" y="2020824"/>
            <a:ext cx="16459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3022" y="2029967"/>
            <a:ext cx="411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1" i="0">
                <a:solidFill>
                  <a:srgbClr val="7E5700"/>
                </a:solidFill>
                <a:latin typeface="Calibri"/>
              </a:rPr>
              <a:t>FALLBACK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09006" y="2825496"/>
            <a:ext cx="777240" cy="530352"/>
          </a:xfrm>
          <a:prstGeom prst="rect">
            <a:avLst/>
          </a:prstGeom>
          <a:solidFill>
            <a:srgbClr val="D6EAF8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109006" y="2825496"/>
            <a:ext cx="182880" cy="14630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18150" y="2825496"/>
            <a:ext cx="16459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10174" y="2834639"/>
            <a:ext cx="320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0D47A1"/>
                </a:solidFill>
                <a:latin typeface="Calibri"/>
              </a:rPr>
              <a:t>AUTO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6159" y="3922776"/>
            <a:ext cx="777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6159" y="3922776"/>
            <a:ext cx="182880" cy="146304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15303" y="3922776"/>
            <a:ext cx="16459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03312" y="3922776"/>
            <a:ext cx="777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03312" y="3922776"/>
            <a:ext cx="182880" cy="146304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12456" y="3922776"/>
            <a:ext cx="16459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00465" y="2825496"/>
            <a:ext cx="777240" cy="530352"/>
          </a:xfrm>
          <a:prstGeom prst="rect">
            <a:avLst/>
          </a:prstGeom>
          <a:solidFill>
            <a:srgbClr val="D6EAF8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00465" y="2825496"/>
            <a:ext cx="182880" cy="14630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09609" y="2825496"/>
            <a:ext cx="16459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01633" y="2834639"/>
            <a:ext cx="320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0D47A1"/>
                </a:solidFill>
                <a:latin typeface="Calibri"/>
              </a:rPr>
              <a:t>AUTO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97617" y="5202936"/>
            <a:ext cx="777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897617" y="5202936"/>
            <a:ext cx="182880" cy="146304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06761" y="5202936"/>
            <a:ext cx="16459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094770" y="987552"/>
            <a:ext cx="777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094770" y="987552"/>
            <a:ext cx="182880" cy="146304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103914" y="987552"/>
            <a:ext cx="16459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67449" y="640080"/>
            <a:ext cx="2011680" cy="329184"/>
          </a:xfrm>
          <a:prstGeom prst="rect">
            <a:avLst/>
          </a:prstGeom>
          <a:solidFill>
            <a:srgbClr val="E8F5E9"/>
          </a:solidFill>
          <a:ln w="9525">
            <a:solidFill>
              <a:srgbClr val="2E7D3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13169" y="658368"/>
            <a:ext cx="1938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2E7D32"/>
                </a:solidFill>
                <a:latin typeface="Calibri"/>
              </a:rPr>
              <a:t>✎ What's better for the customer?
Annotate improvements in green.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56060" y="3511296"/>
            <a:ext cx="2011680" cy="237744"/>
          </a:xfrm>
          <a:prstGeom prst="rect">
            <a:avLst/>
          </a:prstGeom>
          <a:solidFill>
            <a:srgbClr val="E8F5E9"/>
          </a:solidFill>
          <a:ln w="9525">
            <a:solidFill>
              <a:srgbClr val="2E7D3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01780" y="3529584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2E7D32"/>
                </a:solidFill>
                <a:latin typeface="Calibri"/>
              </a:rPr>
              <a:t>✎ What's different for Darren?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747519" y="4901183"/>
            <a:ext cx="2011680" cy="237744"/>
          </a:xfrm>
          <a:prstGeom prst="rect">
            <a:avLst/>
          </a:prstGeom>
          <a:solidFill>
            <a:srgbClr val="E8F5E9"/>
          </a:solidFill>
          <a:ln w="9525">
            <a:solidFill>
              <a:srgbClr val="2E7D3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93239" y="4919471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2E7D32"/>
                </a:solidFill>
                <a:latin typeface="Calibri"/>
              </a:rPr>
              <a:t>✎ What's different for John?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2294788" y="1252728"/>
            <a:ext cx="419913" cy="0"/>
          </a:xfrm>
          <a:prstGeom prst="line">
            <a:avLst/>
          </a:prstGeom>
          <a:ln w="12700">
            <a:solidFill>
              <a:srgbClr val="78787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689094" y="3090672"/>
            <a:ext cx="419912" cy="0"/>
          </a:xfrm>
          <a:prstGeom prst="line">
            <a:avLst/>
          </a:prstGeom>
          <a:ln w="12700">
            <a:solidFill>
              <a:srgbClr val="78787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083399" y="4187952"/>
            <a:ext cx="419913" cy="0"/>
          </a:xfrm>
          <a:prstGeom prst="line">
            <a:avLst/>
          </a:prstGeom>
          <a:ln w="12700">
            <a:solidFill>
              <a:srgbClr val="78787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491941" y="1252728"/>
            <a:ext cx="808533" cy="0"/>
          </a:xfrm>
          <a:prstGeom prst="line">
            <a:avLst/>
          </a:prstGeom>
          <a:ln w="127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300474" y="1252728"/>
            <a:ext cx="0" cy="1572768"/>
          </a:xfrm>
          <a:prstGeom prst="line">
            <a:avLst/>
          </a:prstGeom>
          <a:ln w="12700">
            <a:solidFill>
              <a:srgbClr val="78787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331921" y="1517904"/>
            <a:ext cx="0" cy="502920"/>
          </a:xfrm>
          <a:prstGeom prst="line">
            <a:avLst/>
          </a:prstGeom>
          <a:ln w="12700">
            <a:solidFill>
              <a:srgbClr val="7E570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300474" y="2551176"/>
            <a:ext cx="0" cy="274320"/>
          </a:xfrm>
          <a:prstGeom prst="line">
            <a:avLst/>
          </a:prstGeom>
          <a:ln w="12700">
            <a:solidFill>
              <a:srgbClr val="7E570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497626" y="3355848"/>
            <a:ext cx="1197153" cy="566928"/>
          </a:xfrm>
          <a:prstGeom prst="line">
            <a:avLst/>
          </a:prstGeom>
          <a:ln w="12700">
            <a:solidFill>
              <a:srgbClr val="78787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7891932" y="3355848"/>
            <a:ext cx="1197153" cy="566928"/>
          </a:xfrm>
          <a:prstGeom prst="line">
            <a:avLst/>
          </a:prstGeom>
          <a:ln w="12700">
            <a:solidFill>
              <a:srgbClr val="78787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089085" y="3355848"/>
            <a:ext cx="1197153" cy="1847088"/>
          </a:xfrm>
          <a:prstGeom prst="line">
            <a:avLst/>
          </a:prstGeom>
          <a:ln w="12700">
            <a:solidFill>
              <a:srgbClr val="78787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0674857" y="5468112"/>
            <a:ext cx="808533" cy="0"/>
          </a:xfrm>
          <a:prstGeom prst="line">
            <a:avLst/>
          </a:prstGeom>
          <a:ln w="127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1483390" y="1517904"/>
            <a:ext cx="0" cy="3950208"/>
          </a:xfrm>
          <a:prstGeom prst="line">
            <a:avLst/>
          </a:prstGeom>
          <a:ln w="12700">
            <a:solidFill>
              <a:srgbClr val="78787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1307592" y="6099048"/>
            <a:ext cx="4572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801368" y="6117336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5A3E"/>
                </a:solidFill>
                <a:latin typeface="Calibri"/>
              </a:rPr>
              <a:t>Process step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044952" y="6099048"/>
            <a:ext cx="457200" cy="182880"/>
          </a:xfrm>
          <a:prstGeom prst="rect">
            <a:avLst/>
          </a:prstGeom>
          <a:solidFill>
            <a:srgbClr val="D6EAF8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538728" y="6117336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5A3E"/>
                </a:solidFill>
                <a:latin typeface="Calibri"/>
              </a:rPr>
              <a:t>AUTO / System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782312" y="6099048"/>
            <a:ext cx="457200" cy="182880"/>
          </a:xfrm>
          <a:prstGeom prst="rect">
            <a:avLst/>
          </a:prstGeom>
          <a:solidFill>
            <a:srgbClr val="FFF8E1"/>
          </a:solidFill>
          <a:ln w="9525">
            <a:solidFill>
              <a:srgbClr val="7E57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276088" y="6117336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5A3E"/>
                </a:solidFill>
                <a:latin typeface="Calibri"/>
              </a:rPr>
              <a:t>Fallback (optional)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19672" y="6099048"/>
            <a:ext cx="457200" cy="182880"/>
          </a:xfrm>
          <a:prstGeom prst="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013448" y="6117336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5A3E"/>
                </a:solidFill>
                <a:latin typeface="Calibri"/>
              </a:rPr>
              <a:t>✓ Improvement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5653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Tea Fellas — To-Be Process Map · Phase 3 — Ideate · HDB TPO Product Workshop · July 2026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448495" y="65653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Participant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